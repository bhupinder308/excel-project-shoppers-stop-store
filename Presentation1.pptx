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8F81"/>
    <a:srgbClr val="D44C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677" y="67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YT\Excel%20Project\Reliance%20Digital%20Store\Shoppers%20Stop%20Store%20Data%20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YT\Excel%20Project\Reliance%20Digital%20Store\Shoppers%20Stop%20Store%20Data%20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YT\Excel%20Project\Reliance%20Digital%20Store\Shoppers%20Stop%20Store%20Data%20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YT\Excel%20Project\Reliance%20Digital%20Store\Shoppers%20Stop%20Store%20Data%20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YT\Excel%20Project\Reliance%20Digital%20Store\Shoppers%20Stop%20Store%20Data%20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[Shoppers Stop Store Data Analysis.xlsx]Pivots!PivotTable2</c:name>
    <c:fmtId val="22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692833422703882"/>
          <c:y val="0.16675259342582177"/>
          <c:w val="0.76456744580155822"/>
          <c:h val="0.515384414157532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Pivots!$B$3</c:f>
              <c:strCache>
                <c:ptCount val="1"/>
                <c:pt idx="0">
                  <c:v>Sum of Amount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cat>
            <c:strRef>
              <c:f>Pivots!$A$4:$A$16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Pivots!$B$4:$B$16</c:f>
              <c:numCache>
                <c:formatCode>General</c:formatCode>
                <c:ptCount val="12"/>
                <c:pt idx="0">
                  <c:v>1820601</c:v>
                </c:pt>
                <c:pt idx="1">
                  <c:v>1875932</c:v>
                </c:pt>
                <c:pt idx="2">
                  <c:v>1928066</c:v>
                </c:pt>
                <c:pt idx="3">
                  <c:v>1829263</c:v>
                </c:pt>
                <c:pt idx="4">
                  <c:v>1797822</c:v>
                </c:pt>
                <c:pt idx="5">
                  <c:v>1750966</c:v>
                </c:pt>
                <c:pt idx="6">
                  <c:v>1772300</c:v>
                </c:pt>
                <c:pt idx="7">
                  <c:v>1808505</c:v>
                </c:pt>
                <c:pt idx="8">
                  <c:v>1688871</c:v>
                </c:pt>
                <c:pt idx="9">
                  <c:v>1666662</c:v>
                </c:pt>
                <c:pt idx="10">
                  <c:v>1615356</c:v>
                </c:pt>
                <c:pt idx="11">
                  <c:v>1622033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00-4997-9EB8-83C5282EFA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81371295"/>
        <c:axId val="1181372127"/>
      </c:barChart>
      <c:lineChart>
        <c:grouping val="standard"/>
        <c:varyColors val="0"/>
        <c:ser>
          <c:idx val="1"/>
          <c:order val="1"/>
          <c:tx>
            <c:strRef>
              <c:f>Pivots!$C$3</c:f>
              <c:strCache>
                <c:ptCount val="1"/>
                <c:pt idx="0">
                  <c:v>Count of Order ID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Pivots!$A$4:$A$16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Pivots!$C$4:$C$16</c:f>
              <c:numCache>
                <c:formatCode>General</c:formatCode>
                <c:ptCount val="12"/>
                <c:pt idx="0">
                  <c:v>2702</c:v>
                </c:pt>
                <c:pt idx="1">
                  <c:v>2750</c:v>
                </c:pt>
                <c:pt idx="2">
                  <c:v>2819</c:v>
                </c:pt>
                <c:pt idx="3">
                  <c:v>2685</c:v>
                </c:pt>
                <c:pt idx="4">
                  <c:v>2617</c:v>
                </c:pt>
                <c:pt idx="5">
                  <c:v>2597</c:v>
                </c:pt>
                <c:pt idx="6">
                  <c:v>2579</c:v>
                </c:pt>
                <c:pt idx="7">
                  <c:v>2617</c:v>
                </c:pt>
                <c:pt idx="8">
                  <c:v>2490</c:v>
                </c:pt>
                <c:pt idx="9">
                  <c:v>2424</c:v>
                </c:pt>
                <c:pt idx="10">
                  <c:v>2383</c:v>
                </c:pt>
                <c:pt idx="11">
                  <c:v>2384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00-4997-9EB8-83C5282EFA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20462511"/>
        <c:axId val="1320461263"/>
      </c:lineChart>
      <c:catAx>
        <c:axId val="118137129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1372127"/>
        <c:crosses val="autoZero"/>
        <c:auto val="1"/>
        <c:lblAlgn val="ctr"/>
        <c:lblOffset val="100"/>
        <c:noMultiLvlLbl val="0"/>
      </c:catAx>
      <c:valAx>
        <c:axId val="1181372127"/>
        <c:scaling>
          <c:orientation val="minMax"/>
        </c:scaling>
        <c:delete val="0"/>
        <c:axPos val="l"/>
        <c:numFmt formatCode="0.00,,&quot;M&quot;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1371295"/>
        <c:crosses val="autoZero"/>
        <c:crossBetween val="between"/>
      </c:valAx>
      <c:valAx>
        <c:axId val="132046126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0462511"/>
        <c:crosses val="max"/>
        <c:crossBetween val="between"/>
      </c:valAx>
      <c:catAx>
        <c:axId val="1320462511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320461263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2.516326699320065E-2"/>
          <c:y val="0.83393500231075768"/>
          <c:w val="0.92514285861905055"/>
          <c:h val="0.119214056576261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[Shoppers Stop Store Data Analysis.xlsx]Pivots!PivotTable3</c:name>
    <c:fmtId val="13"/>
  </c:pivotSource>
  <c:chart>
    <c:autoTitleDeleted val="1"/>
    <c:pivotFmts>
      <c:pivotFmt>
        <c:idx val="0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6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solidFill>
            <a:schemeClr val="accent6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6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6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6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6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3"/>
        <c:spPr>
          <a:solidFill>
            <a:schemeClr val="accent6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solidFill>
            <a:schemeClr val="accent6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5"/>
        <c:spPr>
          <a:solidFill>
            <a:schemeClr val="accent6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6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solidFill>
            <a:schemeClr val="accent6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8"/>
        <c:spPr>
          <a:solidFill>
            <a:schemeClr val="accent6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Pivots!$H$3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3D8F8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C223-4C2D-994B-2D222ECC1F7B}"/>
              </c:ext>
            </c:extLst>
          </c:dPt>
          <c:dPt>
            <c:idx val="1"/>
            <c:bubble3D val="0"/>
            <c:spPr>
              <a:solidFill>
                <a:srgbClr val="D44CCA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223-4C2D-994B-2D222ECC1F7B}"/>
              </c:ext>
            </c:extLst>
          </c:dPt>
          <c:dLbls>
            <c:dLbl>
              <c:idx val="0"/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694947315300699"/>
                      <c:h val="0.1410519755264705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223-4C2D-994B-2D222ECC1F7B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sysClr val="windowText" lastClr="000000">
                      <a:lumMod val="25000"/>
                      <a:lumOff val="75000"/>
                    </a:sys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120751789005966"/>
                      <c:h val="0.1410519755264705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223-4C2D-994B-2D222ECC1F7B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Pivots!$G$4:$G$5</c:f>
              <c:strCache>
                <c:ptCount val="2"/>
                <c:pt idx="0">
                  <c:v>Men</c:v>
                </c:pt>
                <c:pt idx="1">
                  <c:v>Women</c:v>
                </c:pt>
              </c:strCache>
            </c:strRef>
          </c:cat>
          <c:val>
            <c:numRef>
              <c:f>Pivots!$H$4:$H$5</c:f>
              <c:numCache>
                <c:formatCode>General</c:formatCode>
                <c:ptCount val="2"/>
                <c:pt idx="0">
                  <c:v>7613604</c:v>
                </c:pt>
                <c:pt idx="1">
                  <c:v>13562773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223-4C2D-994B-2D222ECC1F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[Shoppers Stop Store Data Analysis.xlsx]Pivots!PivotTable4</c:name>
    <c:fmtId val="14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7094017094017096E-2"/>
              <c:y val="-1.439884809215262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7094017094017096E-2"/>
              <c:y val="-1.439884809215262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7094017094017096E-2"/>
              <c:y val="-1.439884809215262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7094017094017096E-2"/>
              <c:y val="-1.439884809215262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8997139517716538"/>
          <c:y val="0.26702663786897046"/>
          <c:w val="0.73711193815616793"/>
          <c:h val="0.5659591957052884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Pivots!$H$10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CC6-4782-8220-C62CFB604A5F}"/>
              </c:ext>
            </c:extLst>
          </c:dPt>
          <c:dLbls>
            <c:dLbl>
              <c:idx val="0"/>
              <c:layout>
                <c:manualLayout>
                  <c:x val="3.1512411616114303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CC6-4782-8220-C62CFB604A5F}"/>
                </c:ext>
              </c:extLst>
            </c:dLbl>
            <c:dLbl>
              <c:idx val="1"/>
              <c:layout>
                <c:manualLayout>
                  <c:x val="1.7094017094017096E-2"/>
                  <c:y val="-1.439884809215262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CC6-4782-8220-C62CFB604A5F}"/>
                </c:ext>
              </c:extLst>
            </c:dLbl>
            <c:dLbl>
              <c:idx val="2"/>
              <c:layout>
                <c:manualLayout>
                  <c:x val="4.3497799134856317E-2"/>
                  <c:y val="-9.775171065493646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CC6-4782-8220-C62CFB604A5F}"/>
                </c:ext>
              </c:extLst>
            </c:dLbl>
            <c:dLbl>
              <c:idx val="3"/>
              <c:layout>
                <c:manualLayout>
                  <c:x val="2.7279165410953956E-2"/>
                  <c:y val="-4.4802349822944254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CC6-4782-8220-C62CFB604A5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Pivots!$G$11:$G$15</c:f>
              <c:strCache>
                <c:ptCount val="4"/>
                <c:pt idx="0">
                  <c:v>Cancelled</c:v>
                </c:pt>
                <c:pt idx="1">
                  <c:v>Delivered</c:v>
                </c:pt>
                <c:pt idx="2">
                  <c:v>Refunded</c:v>
                </c:pt>
                <c:pt idx="3">
                  <c:v>Returned</c:v>
                </c:pt>
              </c:strCache>
            </c:strRef>
          </c:cat>
          <c:val>
            <c:numRef>
              <c:f>Pivots!$H$11:$H$15</c:f>
              <c:numCache>
                <c:formatCode>General</c:formatCode>
                <c:ptCount val="4"/>
                <c:pt idx="0">
                  <c:v>844</c:v>
                </c:pt>
                <c:pt idx="1">
                  <c:v>28641</c:v>
                </c:pt>
                <c:pt idx="2">
                  <c:v>517</c:v>
                </c:pt>
                <c:pt idx="3">
                  <c:v>1045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CC6-4782-8220-C62CFB604A5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406700047"/>
        <c:axId val="1406697967"/>
      </c:barChart>
      <c:catAx>
        <c:axId val="140670004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6697967"/>
        <c:crosses val="autoZero"/>
        <c:auto val="1"/>
        <c:lblAlgn val="ctr"/>
        <c:lblOffset val="100"/>
        <c:noMultiLvlLbl val="0"/>
      </c:catAx>
      <c:valAx>
        <c:axId val="1406697967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14067000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[Shoppers Stop Store Data Analysis.xlsx]Pivots!PivotTable8</c:name>
    <c:fmtId val="15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3363145059623452"/>
          <c:y val="0.20977646544181974"/>
          <c:w val="0.76717332581437936"/>
          <c:h val="0.592629278230680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Pivots!$H$20:$H$21</c:f>
              <c:strCache>
                <c:ptCount val="1"/>
                <c:pt idx="0">
                  <c:v>Men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Pivots!$G$22:$G$24</c:f>
              <c:strCache>
                <c:ptCount val="3"/>
                <c:pt idx="0">
                  <c:v>Adult</c:v>
                </c:pt>
                <c:pt idx="1">
                  <c:v>Senior</c:v>
                </c:pt>
                <c:pt idx="2">
                  <c:v>Teenager</c:v>
                </c:pt>
              </c:strCache>
            </c:strRef>
          </c:cat>
          <c:val>
            <c:numRef>
              <c:f>Pivots!$H$22:$H$24</c:f>
              <c:numCache>
                <c:formatCode>0.00%</c:formatCode>
                <c:ptCount val="3"/>
                <c:pt idx="0">
                  <c:v>0.23477308596643798</c:v>
                </c:pt>
                <c:pt idx="1">
                  <c:v>5.7235803781363739E-2</c:v>
                </c:pt>
                <c:pt idx="2">
                  <c:v>1.3785550938899089E-2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CE-45D8-AA80-B95CBA83494E}"/>
            </c:ext>
          </c:extLst>
        </c:ser>
        <c:ser>
          <c:idx val="1"/>
          <c:order val="1"/>
          <c:tx>
            <c:strRef>
              <c:f>Pivots!$I$20:$I$21</c:f>
              <c:strCache>
                <c:ptCount val="1"/>
                <c:pt idx="0">
                  <c:v>Women</c:v>
                </c:pt>
              </c:strCache>
            </c:strRef>
          </c:tx>
          <c:spPr>
            <a:solidFill>
              <a:schemeClr val="accent3">
                <a:alpha val="99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Pivots!$G$22:$G$24</c:f>
              <c:strCache>
                <c:ptCount val="3"/>
                <c:pt idx="0">
                  <c:v>Adult</c:v>
                </c:pt>
                <c:pt idx="1">
                  <c:v>Senior</c:v>
                </c:pt>
                <c:pt idx="2">
                  <c:v>Teenager</c:v>
                </c:pt>
              </c:strCache>
            </c:strRef>
          </c:cat>
          <c:val>
            <c:numRef>
              <c:f>Pivots!$I$22:$I$24</c:f>
              <c:numCache>
                <c:formatCode>0.00%</c:formatCode>
                <c:ptCount val="3"/>
                <c:pt idx="0">
                  <c:v>0.52781267111154062</c:v>
                </c:pt>
                <c:pt idx="1">
                  <c:v>0.13308854317647437</c:v>
                </c:pt>
                <c:pt idx="2">
                  <c:v>3.3304345025284246E-2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CE-45D8-AA80-B95CBA83494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35274463"/>
        <c:axId val="1335274879"/>
      </c:barChart>
      <c:catAx>
        <c:axId val="13352744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5274879"/>
        <c:crosses val="autoZero"/>
        <c:auto val="1"/>
        <c:lblAlgn val="ctr"/>
        <c:lblOffset val="100"/>
        <c:noMultiLvlLbl val="0"/>
      </c:catAx>
      <c:valAx>
        <c:axId val="1335274879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5274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8979528255254569"/>
          <c:y val="0.89821286874024475"/>
          <c:w val="0.65228826309990628"/>
          <c:h val="0.100961798379853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[Shoppers Stop Store Data Analysis.xlsx]Pivots!PivotTable6</c:name>
    <c:fmtId val="12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7083574561591557E-2"/>
          <c:y val="7.8201368523949169E-2"/>
          <c:w val="0.90291642543840844"/>
          <c:h val="0.833594261127916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Pivots!$L$3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numFmt formatCode="0.0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Pivots!$K$4:$K$10</c:f>
              <c:strCache>
                <c:ptCount val="7"/>
                <c:pt idx="0">
                  <c:v>Amazon</c:v>
                </c:pt>
                <c:pt idx="1">
                  <c:v>Myntra</c:v>
                </c:pt>
                <c:pt idx="2">
                  <c:v>Flipkart</c:v>
                </c:pt>
                <c:pt idx="3">
                  <c:v>Ajio</c:v>
                </c:pt>
                <c:pt idx="4">
                  <c:v>Nalli</c:v>
                </c:pt>
                <c:pt idx="5">
                  <c:v>Meesho</c:v>
                </c:pt>
                <c:pt idx="6">
                  <c:v>Others</c:v>
                </c:pt>
              </c:strCache>
            </c:strRef>
          </c:cat>
          <c:val>
            <c:numRef>
              <c:f>Pivots!$L$4:$L$10</c:f>
              <c:numCache>
                <c:formatCode>General</c:formatCode>
                <c:ptCount val="7"/>
                <c:pt idx="0">
                  <c:v>7519933</c:v>
                </c:pt>
                <c:pt idx="1">
                  <c:v>4941540</c:v>
                </c:pt>
                <c:pt idx="2">
                  <c:v>4573301</c:v>
                </c:pt>
                <c:pt idx="3">
                  <c:v>1331427</c:v>
                </c:pt>
                <c:pt idx="4">
                  <c:v>1015329</c:v>
                </c:pt>
                <c:pt idx="5">
                  <c:v>927606</c:v>
                </c:pt>
                <c:pt idx="6">
                  <c:v>867241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42-4D97-9829-2BE2732B96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44605311"/>
        <c:axId val="944601567"/>
      </c:barChart>
      <c:catAx>
        <c:axId val="9446053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4601567"/>
        <c:crosses val="autoZero"/>
        <c:auto val="1"/>
        <c:lblAlgn val="ctr"/>
        <c:lblOffset val="100"/>
        <c:noMultiLvlLbl val="0"/>
      </c:catAx>
      <c:valAx>
        <c:axId val="944601567"/>
        <c:scaling>
          <c:orientation val="minMax"/>
        </c:scaling>
        <c:delete val="0"/>
        <c:axPos val="l"/>
        <c:numFmt formatCode="0.0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46053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E539F-27EB-497C-A45A-012B63EDFB9B}" type="datetimeFigureOut">
              <a:rPr lang="en-IN" smtClean="0"/>
              <a:t>02-28-2026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33263-0917-432B-9F8D-1D081D917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974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E539F-27EB-497C-A45A-012B63EDFB9B}" type="datetimeFigureOut">
              <a:rPr lang="en-IN" smtClean="0"/>
              <a:t>02-28-2026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33263-0917-432B-9F8D-1D081D917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59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E539F-27EB-497C-A45A-012B63EDFB9B}" type="datetimeFigureOut">
              <a:rPr lang="en-IN" smtClean="0"/>
              <a:t>02-28-2026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33263-0917-432B-9F8D-1D081D917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679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E539F-27EB-497C-A45A-012B63EDFB9B}" type="datetimeFigureOut">
              <a:rPr lang="en-IN" smtClean="0"/>
              <a:t>02-28-2026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33263-0917-432B-9F8D-1D081D917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16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E539F-27EB-497C-A45A-012B63EDFB9B}" type="datetimeFigureOut">
              <a:rPr lang="en-IN" smtClean="0"/>
              <a:t>02-28-2026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33263-0917-432B-9F8D-1D081D917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154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E539F-27EB-497C-A45A-012B63EDFB9B}" type="datetimeFigureOut">
              <a:rPr lang="en-IN" smtClean="0"/>
              <a:t>02-28-2026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33263-0917-432B-9F8D-1D081D917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335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E539F-27EB-497C-A45A-012B63EDFB9B}" type="datetimeFigureOut">
              <a:rPr lang="en-IN" smtClean="0"/>
              <a:t>02-28-2026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33263-0917-432B-9F8D-1D081D917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876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E539F-27EB-497C-A45A-012B63EDFB9B}" type="datetimeFigureOut">
              <a:rPr lang="en-IN" smtClean="0"/>
              <a:t>02-28-2026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33263-0917-432B-9F8D-1D081D917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542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E539F-27EB-497C-A45A-012B63EDFB9B}" type="datetimeFigureOut">
              <a:rPr lang="en-IN" smtClean="0"/>
              <a:t>02-28-2026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33263-0917-432B-9F8D-1D081D917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31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E539F-27EB-497C-A45A-012B63EDFB9B}" type="datetimeFigureOut">
              <a:rPr lang="en-IN" smtClean="0"/>
              <a:t>02-28-2026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33263-0917-432B-9F8D-1D081D917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69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E539F-27EB-497C-A45A-012B63EDFB9B}" type="datetimeFigureOut">
              <a:rPr lang="en-IN" smtClean="0"/>
              <a:t>02-28-2026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33263-0917-432B-9F8D-1D081D917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374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E539F-27EB-497C-A45A-012B63EDFB9B}" type="datetimeFigureOut">
              <a:rPr lang="en-IN" smtClean="0"/>
              <a:t>02-28-2026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33263-0917-432B-9F8D-1D081D917FD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6112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E539F-27EB-497C-A45A-012B63EDFB9B}" type="datetimeFigureOut">
              <a:rPr lang="en-IN" smtClean="0"/>
              <a:t>02-28-2026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33263-0917-432B-9F8D-1D081D917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634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E539F-27EB-497C-A45A-012B63EDFB9B}" type="datetimeFigureOut">
              <a:rPr lang="en-IN" smtClean="0"/>
              <a:t>02-28-2026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33263-0917-432B-9F8D-1D081D917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383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E539F-27EB-497C-A45A-012B63EDFB9B}" type="datetimeFigureOut">
              <a:rPr lang="en-IN" smtClean="0"/>
              <a:t>02-28-2026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33263-0917-432B-9F8D-1D081D917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973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E539F-27EB-497C-A45A-012B63EDFB9B}" type="datetimeFigureOut">
              <a:rPr lang="en-IN" smtClean="0"/>
              <a:t>02-28-2026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33263-0917-432B-9F8D-1D081D917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2026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E539F-27EB-497C-A45A-012B63EDFB9B}" type="datetimeFigureOut">
              <a:rPr lang="en-IN" smtClean="0"/>
              <a:t>02-28-2026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33263-0917-432B-9F8D-1D081D917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923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BAE539F-27EB-497C-A45A-012B63EDFB9B}" type="datetimeFigureOut">
              <a:rPr lang="en-IN" smtClean="0"/>
              <a:t>02-28-2026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33263-0917-432B-9F8D-1D081D917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6389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slide" Target="slide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" Target="slide2.xml"/><Relationship Id="rId7" Type="http://schemas.openxmlformats.org/officeDocument/2006/relationships/image" Target="../media/image6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openxmlformats.org/officeDocument/2006/relationships/image" Target="../media/image9.svg"/><Relationship Id="rId5" Type="http://schemas.openxmlformats.org/officeDocument/2006/relationships/image" Target="../media/image11.svg"/><Relationship Id="rId10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" Target="slide3.xml"/><Relationship Id="rId7" Type="http://schemas.openxmlformats.org/officeDocument/2006/relationships/image" Target="../media/image6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image" Target="../media/image9.svg"/><Relationship Id="rId5" Type="http://schemas.openxmlformats.org/officeDocument/2006/relationships/image" Target="../media/image11.svg"/><Relationship Id="rId10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" Target="slide4.xml"/><Relationship Id="rId7" Type="http://schemas.openxmlformats.org/officeDocument/2006/relationships/image" Target="../media/image6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11" Type="http://schemas.openxmlformats.org/officeDocument/2006/relationships/image" Target="../media/image9.svg"/><Relationship Id="rId5" Type="http://schemas.openxmlformats.org/officeDocument/2006/relationships/image" Target="../media/image11.svg"/><Relationship Id="rId10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slide" Target="slid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0.png"/><Relationship Id="rId7" Type="http://schemas.openxmlformats.org/officeDocument/2006/relationships/image" Target="../media/image7.svg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slide" Target="slide7.xml"/><Relationship Id="rId10" Type="http://schemas.openxmlformats.org/officeDocument/2006/relationships/image" Target="../media/image9.svg"/><Relationship Id="rId4" Type="http://schemas.openxmlformats.org/officeDocument/2006/relationships/image" Target="../media/image11.sv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" Target="slide6.xml"/><Relationship Id="rId7" Type="http://schemas.openxmlformats.org/officeDocument/2006/relationships/image" Target="../media/image6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11" Type="http://schemas.openxmlformats.org/officeDocument/2006/relationships/image" Target="../media/image9.svg"/><Relationship Id="rId5" Type="http://schemas.openxmlformats.org/officeDocument/2006/relationships/image" Target="../media/image11.svg"/><Relationship Id="rId10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" Target="slide7.xml"/><Relationship Id="rId7" Type="http://schemas.openxmlformats.org/officeDocument/2006/relationships/image" Target="../media/image6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9.xml"/><Relationship Id="rId11" Type="http://schemas.openxmlformats.org/officeDocument/2006/relationships/image" Target="../media/image9.svg"/><Relationship Id="rId5" Type="http://schemas.openxmlformats.org/officeDocument/2006/relationships/image" Target="../media/image11.svg"/><Relationship Id="rId10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svg"/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slide" Target="slide1.xml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52409F-0BD5-4514-A38A-DE474C0820E0}"/>
              </a:ext>
            </a:extLst>
          </p:cNvPr>
          <p:cNvSpPr txBox="1"/>
          <p:nvPr/>
        </p:nvSpPr>
        <p:spPr>
          <a:xfrm>
            <a:off x="2639961" y="2721114"/>
            <a:ext cx="69120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i="1" u="sng" dirty="0"/>
              <a:t>Shoppers Stop Digital Store</a:t>
            </a:r>
          </a:p>
        </p:txBody>
      </p:sp>
      <p:pic>
        <p:nvPicPr>
          <p:cNvPr id="3" name="Graphic 2" descr="Arrow: Slight curv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540812D6-AD88-4196-BF08-16FD6473DF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0003" y="6341808"/>
            <a:ext cx="476864" cy="40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136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B557C2-EEA7-4F53-BDAB-A5961DF8BF05}"/>
              </a:ext>
            </a:extLst>
          </p:cNvPr>
          <p:cNvSpPr txBox="1"/>
          <p:nvPr/>
        </p:nvSpPr>
        <p:spPr>
          <a:xfrm>
            <a:off x="1889159" y="360000"/>
            <a:ext cx="84136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u="sng" dirty="0"/>
              <a:t>About Shoppers Stop Digital Store</a:t>
            </a:r>
            <a:endParaRPr lang="en-IN" sz="4000" b="1" i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AA24C-9B72-42D0-B002-8A288CB8C902}"/>
              </a:ext>
            </a:extLst>
          </p:cNvPr>
          <p:cNvSpPr txBox="1"/>
          <p:nvPr/>
        </p:nvSpPr>
        <p:spPr>
          <a:xfrm>
            <a:off x="899999" y="1555701"/>
            <a:ext cx="1032235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Our Identity</a:t>
            </a:r>
          </a:p>
          <a:p>
            <a:endParaRPr lang="en-US" b="1" i="1" dirty="0"/>
          </a:p>
          <a:p>
            <a:r>
              <a:rPr lang="en-US" sz="1400" dirty="0"/>
              <a:t>Shoppers Stop is a premier destination for contemporary fashion, blending traditional elegance with modern style. We curate high-quality apparel designed to empower the modern Indian consumer through accessible, trend-driven collections.</a:t>
            </a:r>
          </a:p>
          <a:p>
            <a:endParaRPr lang="en-US" dirty="0"/>
          </a:p>
          <a:p>
            <a:r>
              <a:rPr lang="en-US" b="1" i="1" u="sng" dirty="0"/>
              <a:t>Product Portfolio</a:t>
            </a:r>
          </a:p>
          <a:p>
            <a:endParaRPr lang="en-US" dirty="0"/>
          </a:p>
          <a:p>
            <a:r>
              <a:rPr lang="en-US" sz="1400" dirty="0"/>
              <a:t>Women's Ethnic: Exquisite Kurtas, Blouses, and Sarees.</a:t>
            </a:r>
          </a:p>
          <a:p>
            <a:r>
              <a:rPr lang="en-US" sz="1400" dirty="0"/>
              <a:t>Modern Essentials: Trendy Western Dresses, Tops, and versatile Bottoms.</a:t>
            </a:r>
          </a:p>
          <a:p>
            <a:endParaRPr lang="en-US" dirty="0"/>
          </a:p>
          <a:p>
            <a:r>
              <a:rPr lang="en-US" b="1" i="1" u="sng" dirty="0"/>
              <a:t>Our Digital Footprint</a:t>
            </a:r>
          </a:p>
          <a:p>
            <a:endParaRPr lang="en-US" b="1" i="1" dirty="0"/>
          </a:p>
          <a:p>
            <a:r>
              <a:rPr lang="en-US" sz="1400" dirty="0"/>
              <a:t>We leverage a robust multi-channel distribution network to ensure nationwide reach. You can find our collections on India’s leading e-commerce hubs:</a:t>
            </a:r>
          </a:p>
          <a:p>
            <a:r>
              <a:rPr lang="en-US" sz="1400" dirty="0"/>
              <a:t>Amazon | Myntra | </a:t>
            </a:r>
            <a:r>
              <a:rPr lang="en-US" sz="1400" dirty="0" err="1"/>
              <a:t>Ajio</a:t>
            </a:r>
            <a:r>
              <a:rPr lang="en-US" sz="1400" dirty="0"/>
              <a:t> | Flipkart | </a:t>
            </a:r>
            <a:r>
              <a:rPr lang="en-US" sz="1400" dirty="0" err="1"/>
              <a:t>Meesho</a:t>
            </a:r>
            <a:r>
              <a:rPr lang="en-US" sz="1400" dirty="0"/>
              <a:t> | </a:t>
            </a:r>
            <a:r>
              <a:rPr lang="en-US" sz="1400" dirty="0" err="1"/>
              <a:t>Nalli</a:t>
            </a:r>
            <a:endParaRPr lang="en-US" sz="1400" dirty="0"/>
          </a:p>
        </p:txBody>
      </p:sp>
      <p:pic>
        <p:nvPicPr>
          <p:cNvPr id="3" name="Graphic 2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7955EEF9-230E-43D8-8B00-CB060E984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0968" y="6341808"/>
            <a:ext cx="476865" cy="408038"/>
          </a:xfrm>
          <a:prstGeom prst="rect">
            <a:avLst/>
          </a:prstGeom>
        </p:spPr>
      </p:pic>
      <p:pic>
        <p:nvPicPr>
          <p:cNvPr id="5" name="Graphic 4" descr="Arrow: Straight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75023322-C139-4A9A-AE6D-33D3589D8E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45486" y="6341808"/>
            <a:ext cx="476864" cy="408038"/>
          </a:xfrm>
          <a:prstGeom prst="rect">
            <a:avLst/>
          </a:prstGeom>
        </p:spPr>
      </p:pic>
      <p:pic>
        <p:nvPicPr>
          <p:cNvPr id="9" name="Graphic 8" descr="Arrow: Slight curve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AC658A82-0A0E-4218-8730-DE356703C7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90003" y="6341808"/>
            <a:ext cx="476864" cy="40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732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D11C8AF-D859-4977-8212-2A0BA183BC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4838956"/>
              </p:ext>
            </p:extLst>
          </p:nvPr>
        </p:nvGraphicFramePr>
        <p:xfrm>
          <a:off x="2399072" y="1514168"/>
          <a:ext cx="7393857" cy="31561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1F4A024-E9AC-4826-9C95-2C326E773DA5}"/>
              </a:ext>
            </a:extLst>
          </p:cNvPr>
          <p:cNvSpPr txBox="1"/>
          <p:nvPr/>
        </p:nvSpPr>
        <p:spPr>
          <a:xfrm>
            <a:off x="1742942" y="360000"/>
            <a:ext cx="8706116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i="1" u="sng" dirty="0"/>
              <a:t>Monthly Sales and Orders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8302AF-39D2-46DA-86E2-0EA9721FDC40}"/>
              </a:ext>
            </a:extLst>
          </p:cNvPr>
          <p:cNvSpPr txBox="1"/>
          <p:nvPr/>
        </p:nvSpPr>
        <p:spPr>
          <a:xfrm>
            <a:off x="2441032" y="4916129"/>
            <a:ext cx="73099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Peak Performance: March 2025 saw the highest volume and value for the year.</a:t>
            </a:r>
          </a:p>
          <a:p>
            <a:endParaRPr lang="en-US" sz="1400" dirty="0"/>
          </a:p>
          <a:p>
            <a:r>
              <a:rPr lang="en-US" sz="1400" dirty="0"/>
              <a:t>Order Volume: 2,819 orders (Annual High).</a:t>
            </a:r>
          </a:p>
          <a:p>
            <a:endParaRPr lang="en-US" sz="1400" dirty="0"/>
          </a:p>
          <a:p>
            <a:r>
              <a:rPr lang="en-US" sz="1400" dirty="0"/>
              <a:t>Sales Revenue: ₹1.92 Million INR.</a:t>
            </a:r>
            <a:endParaRPr lang="en-IN" sz="1400" dirty="0"/>
          </a:p>
        </p:txBody>
      </p:sp>
      <p:pic>
        <p:nvPicPr>
          <p:cNvPr id="20" name="Graphic 19" descr="Arrow: Straight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B52B7FE8-B06B-4DA8-82C7-CAAF671D86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45486" y="6341808"/>
            <a:ext cx="476864" cy="408038"/>
          </a:xfrm>
          <a:prstGeom prst="rect">
            <a:avLst/>
          </a:prstGeom>
        </p:spPr>
      </p:pic>
      <p:pic>
        <p:nvPicPr>
          <p:cNvPr id="21" name="Graphic 20" descr="Arrow: Slight curve with solid fill">
            <a:hlinkClick r:id="rId6" action="ppaction://hlinksldjump"/>
            <a:extLst>
              <a:ext uri="{FF2B5EF4-FFF2-40B4-BE49-F238E27FC236}">
                <a16:creationId xmlns:a16="http://schemas.microsoft.com/office/drawing/2014/main" id="{99E5688E-58E9-4CFC-A6D1-2474587DD3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90003" y="6341808"/>
            <a:ext cx="476864" cy="408038"/>
          </a:xfrm>
          <a:prstGeom prst="rect">
            <a:avLst/>
          </a:prstGeom>
        </p:spPr>
      </p:pic>
      <p:pic>
        <p:nvPicPr>
          <p:cNvPr id="22" name="Graphic 21" descr="Home with solid fill">
            <a:hlinkClick r:id="rId9" action="ppaction://hlinksldjump"/>
            <a:extLst>
              <a:ext uri="{FF2B5EF4-FFF2-40B4-BE49-F238E27FC236}">
                <a16:creationId xmlns:a16="http://schemas.microsoft.com/office/drawing/2014/main" id="{140044E9-18D8-437F-9005-CC8E4E79E9B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00968" y="6341808"/>
            <a:ext cx="476865" cy="40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425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F4A024-E9AC-4826-9C95-2C326E773DA5}"/>
              </a:ext>
            </a:extLst>
          </p:cNvPr>
          <p:cNvSpPr txBox="1"/>
          <p:nvPr/>
        </p:nvSpPr>
        <p:spPr>
          <a:xfrm>
            <a:off x="2500026" y="360000"/>
            <a:ext cx="71919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Sales Distribution by Gender</a:t>
            </a:r>
            <a:r>
              <a:rPr lang="en-IN" sz="4000" dirty="0"/>
              <a:t> </a:t>
            </a:r>
            <a:endParaRPr lang="en-IN" sz="4000" b="1" i="1" u="sn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8302AF-39D2-46DA-86E2-0EA9721FDC40}"/>
              </a:ext>
            </a:extLst>
          </p:cNvPr>
          <p:cNvSpPr txBox="1"/>
          <p:nvPr/>
        </p:nvSpPr>
        <p:spPr>
          <a:xfrm>
            <a:off x="1820283" y="4483510"/>
            <a:ext cx="85514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Total Revenue Snapshot:</a:t>
            </a:r>
          </a:p>
          <a:p>
            <a:endParaRPr lang="en-US" sz="1400" dirty="0"/>
          </a:p>
          <a:p>
            <a:r>
              <a:rPr lang="en-US" sz="1400" dirty="0"/>
              <a:t>Female Customers: Contributed 64% (₹13.5M), representing the majority of the market share.</a:t>
            </a:r>
          </a:p>
          <a:p>
            <a:endParaRPr lang="en-US" sz="1400" dirty="0"/>
          </a:p>
          <a:p>
            <a:r>
              <a:rPr lang="en-US" sz="1400" dirty="0"/>
              <a:t>Male Customers: Contributed 36% (₹7.6M) of the total sales volume.</a:t>
            </a:r>
          </a:p>
          <a:p>
            <a:endParaRPr lang="en-US" sz="1400" dirty="0"/>
          </a:p>
          <a:p>
            <a:r>
              <a:rPr lang="en-US" sz="1400" dirty="0"/>
              <a:t>Key Takeaway: The female demographic remains our highest-value segment.</a:t>
            </a:r>
            <a:endParaRPr lang="en-IN" sz="14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970CDD0-3458-4064-B7E3-30660CCBA0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6557949"/>
              </p:ext>
            </p:extLst>
          </p:nvPr>
        </p:nvGraphicFramePr>
        <p:xfrm>
          <a:off x="3008671" y="1739746"/>
          <a:ext cx="6174658" cy="2278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8" name="Graphic 7" descr="Arrow: Straight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DE6A1138-326C-45E7-A3B9-3B1C63C3BB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45486" y="6341808"/>
            <a:ext cx="476864" cy="408038"/>
          </a:xfrm>
          <a:prstGeom prst="rect">
            <a:avLst/>
          </a:prstGeom>
        </p:spPr>
      </p:pic>
      <p:pic>
        <p:nvPicPr>
          <p:cNvPr id="9" name="Graphic 8" descr="Arrow: Slight curve with solid fill">
            <a:hlinkClick r:id="rId6" action="ppaction://hlinksldjump"/>
            <a:extLst>
              <a:ext uri="{FF2B5EF4-FFF2-40B4-BE49-F238E27FC236}">
                <a16:creationId xmlns:a16="http://schemas.microsoft.com/office/drawing/2014/main" id="{B16836F5-01F7-4A0A-B167-5E4784A398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90003" y="6341808"/>
            <a:ext cx="476864" cy="408038"/>
          </a:xfrm>
          <a:prstGeom prst="rect">
            <a:avLst/>
          </a:prstGeom>
        </p:spPr>
      </p:pic>
      <p:pic>
        <p:nvPicPr>
          <p:cNvPr id="10" name="Graphic 9" descr="Home with solid fill">
            <a:hlinkClick r:id="rId9" action="ppaction://hlinksldjump"/>
            <a:extLst>
              <a:ext uri="{FF2B5EF4-FFF2-40B4-BE49-F238E27FC236}">
                <a16:creationId xmlns:a16="http://schemas.microsoft.com/office/drawing/2014/main" id="{01AB9744-D643-4231-B7BE-4AC147BD4BA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00968" y="6341808"/>
            <a:ext cx="476865" cy="40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64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F4A024-E9AC-4826-9C95-2C326E773DA5}"/>
              </a:ext>
            </a:extLst>
          </p:cNvPr>
          <p:cNvSpPr txBox="1"/>
          <p:nvPr/>
        </p:nvSpPr>
        <p:spPr>
          <a:xfrm>
            <a:off x="2751717" y="360000"/>
            <a:ext cx="66885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i="1" u="sng" dirty="0"/>
              <a:t>Order </a:t>
            </a:r>
            <a:r>
              <a:rPr lang="en-IN" sz="4000" b="1" i="1" u="sng" dirty="0" err="1"/>
              <a:t>Fulfillment</a:t>
            </a:r>
            <a:r>
              <a:rPr lang="en-IN" sz="4000" b="1" i="1" u="sng" dirty="0"/>
              <a:t> Overview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8302AF-39D2-46DA-86E2-0EA9721FDC40}"/>
              </a:ext>
            </a:extLst>
          </p:cNvPr>
          <p:cNvSpPr txBox="1"/>
          <p:nvPr/>
        </p:nvSpPr>
        <p:spPr>
          <a:xfrm>
            <a:off x="922990" y="4454013"/>
            <a:ext cx="103460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Total processed volume of 31,047 orders shows robust operational capacity with minimal refund friction (1.7%).</a:t>
            </a:r>
          </a:p>
          <a:p>
            <a:endParaRPr lang="en-US" sz="1400" dirty="0"/>
          </a:p>
          <a:p>
            <a:r>
              <a:rPr lang="en-US" sz="1400" dirty="0"/>
              <a:t>Our delivery success rate remains exceptionally high at 92%, indicating strong logistics and customer satisfaction.</a:t>
            </a:r>
          </a:p>
          <a:p>
            <a:endParaRPr lang="en-US" sz="1400" dirty="0"/>
          </a:p>
          <a:p>
            <a:r>
              <a:rPr lang="en-US" sz="1400" dirty="0"/>
              <a:t>While returns and cancellations remain below 4%, we should investigate the 1,045 returns to identify potential product quality issues.</a:t>
            </a:r>
            <a:endParaRPr lang="en-IN" sz="14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A196104-2229-4739-B0E3-C4C505B2B4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4428454"/>
              </p:ext>
            </p:extLst>
          </p:nvPr>
        </p:nvGraphicFramePr>
        <p:xfrm>
          <a:off x="2359742" y="1579726"/>
          <a:ext cx="7472516" cy="259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8" name="Graphic 7" descr="Arrow: Straight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DBB9549A-AC77-4F3E-B513-D4178E2DCD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45486" y="6341808"/>
            <a:ext cx="476864" cy="408038"/>
          </a:xfrm>
          <a:prstGeom prst="rect">
            <a:avLst/>
          </a:prstGeom>
        </p:spPr>
      </p:pic>
      <p:pic>
        <p:nvPicPr>
          <p:cNvPr id="9" name="Graphic 8" descr="Arrow: Slight curve with solid fill">
            <a:hlinkClick r:id="rId6" action="ppaction://hlinksldjump"/>
            <a:extLst>
              <a:ext uri="{FF2B5EF4-FFF2-40B4-BE49-F238E27FC236}">
                <a16:creationId xmlns:a16="http://schemas.microsoft.com/office/drawing/2014/main" id="{CB9956A8-8AD6-4715-B0E7-33F13BBED6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90003" y="6341808"/>
            <a:ext cx="476864" cy="408038"/>
          </a:xfrm>
          <a:prstGeom prst="rect">
            <a:avLst/>
          </a:prstGeom>
        </p:spPr>
      </p:pic>
      <p:pic>
        <p:nvPicPr>
          <p:cNvPr id="10" name="Graphic 9" descr="Home with solid fill">
            <a:hlinkClick r:id="rId9" action="ppaction://hlinksldjump"/>
            <a:extLst>
              <a:ext uri="{FF2B5EF4-FFF2-40B4-BE49-F238E27FC236}">
                <a16:creationId xmlns:a16="http://schemas.microsoft.com/office/drawing/2014/main" id="{5E7C689D-65AC-4F14-93D6-6BD0F422CF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00968" y="6341808"/>
            <a:ext cx="476865" cy="40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449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F4A024-E9AC-4826-9C95-2C326E773DA5}"/>
              </a:ext>
            </a:extLst>
          </p:cNvPr>
          <p:cNvSpPr txBox="1"/>
          <p:nvPr/>
        </p:nvSpPr>
        <p:spPr>
          <a:xfrm>
            <a:off x="1912375" y="360000"/>
            <a:ext cx="83672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i="1" u="sng" dirty="0"/>
              <a:t>Regional Sales Powerhouse Hubs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8302AF-39D2-46DA-86E2-0EA9721FDC40}"/>
              </a:ext>
            </a:extLst>
          </p:cNvPr>
          <p:cNvSpPr txBox="1"/>
          <p:nvPr/>
        </p:nvSpPr>
        <p:spPr>
          <a:xfrm>
            <a:off x="5919019" y="1691271"/>
            <a:ext cx="547165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Strategic Takeaways</a:t>
            </a:r>
          </a:p>
          <a:p>
            <a:endParaRPr lang="en-US" sz="1400" dirty="0"/>
          </a:p>
          <a:p>
            <a:r>
              <a:rPr lang="en-US" sz="1400" dirty="0"/>
              <a:t>Growth Focus: "The top 5 states contribute over ₹11M in sales, showing a heavy concentration in Western and Southern India."</a:t>
            </a:r>
          </a:p>
          <a:p>
            <a:endParaRPr lang="en-US" sz="1400" dirty="0"/>
          </a:p>
          <a:p>
            <a:r>
              <a:rPr lang="en-US" sz="1400" dirty="0"/>
              <a:t>Market Opportunity: "Maharashtra remains our flagship market with ₹2.99M in revenue, outperforming the #10 state (Haryana) by nearly 3.7x."</a:t>
            </a:r>
          </a:p>
          <a:p>
            <a:endParaRPr lang="en-US" sz="1400" dirty="0"/>
          </a:p>
          <a:p>
            <a:r>
              <a:rPr lang="en-US" sz="1400" dirty="0"/>
              <a:t>Logistics Insight: "High sales volume in Karnataka and Telangana suggests a strong Southern India customer base, justifying localized marketing efforts.</a:t>
            </a:r>
            <a:endParaRPr lang="en-IN" sz="1400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920A79AF-9188-4417-80EA-A6688A028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926498"/>
              </p:ext>
            </p:extLst>
          </p:nvPr>
        </p:nvGraphicFramePr>
        <p:xfrm>
          <a:off x="1052051" y="1272390"/>
          <a:ext cx="4021394" cy="4758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697">
                  <a:extLst>
                    <a:ext uri="{9D8B030D-6E8A-4147-A177-3AD203B41FA5}">
                      <a16:colId xmlns:a16="http://schemas.microsoft.com/office/drawing/2014/main" val="1895047443"/>
                    </a:ext>
                  </a:extLst>
                </a:gridCol>
                <a:gridCol w="2010697">
                  <a:extLst>
                    <a:ext uri="{9D8B030D-6E8A-4147-A177-3AD203B41FA5}">
                      <a16:colId xmlns:a16="http://schemas.microsoft.com/office/drawing/2014/main" val="615934649"/>
                    </a:ext>
                  </a:extLst>
                </a:gridCol>
              </a:tblGrid>
              <a:tr h="476241"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State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Sales (INR Million)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599350458"/>
                  </a:ext>
                </a:extLst>
              </a:tr>
              <a:tr h="476241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Maharashtra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₹2.99 M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63239927"/>
                  </a:ext>
                </a:extLst>
              </a:tr>
              <a:tr h="339881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Karnataka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₹2.65 M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34096113"/>
                  </a:ext>
                </a:extLst>
              </a:tr>
              <a:tr h="476241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Uttar Pradesh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₹2.10 M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252983852"/>
                  </a:ext>
                </a:extLst>
              </a:tr>
              <a:tr h="339881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Telangana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₹1.71 M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453574762"/>
                  </a:ext>
                </a:extLst>
              </a:tr>
              <a:tr h="339881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Tamil Nadu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₹1.68 M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817687895"/>
                  </a:ext>
                </a:extLst>
              </a:tr>
              <a:tr h="339881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Delhi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₹1.27 M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922876849"/>
                  </a:ext>
                </a:extLst>
              </a:tr>
              <a:tr h="339881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Kerala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₹1.01 M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860363828"/>
                  </a:ext>
                </a:extLst>
              </a:tr>
              <a:tr h="476241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West Bengal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₹0.92 M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239434213"/>
                  </a:ext>
                </a:extLst>
              </a:tr>
              <a:tr h="476241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Andhra Pradesh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₹0.92 M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4180882133"/>
                  </a:ext>
                </a:extLst>
              </a:tr>
              <a:tr h="339881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Haryana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₹0.81 M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247879655"/>
                  </a:ext>
                </a:extLst>
              </a:tr>
            </a:tbl>
          </a:graphicData>
        </a:graphic>
      </p:graphicFrame>
      <p:pic>
        <p:nvPicPr>
          <p:cNvPr id="9" name="Graphic 8" descr="Arrow: Straight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A7F2FD04-0857-4A2E-A05B-EB096B702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5486" y="6341808"/>
            <a:ext cx="476864" cy="408038"/>
          </a:xfrm>
          <a:prstGeom prst="rect">
            <a:avLst/>
          </a:prstGeom>
        </p:spPr>
      </p:pic>
      <p:pic>
        <p:nvPicPr>
          <p:cNvPr id="10" name="Graphic 9" descr="Arrow: Slight curve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7D875E6A-C4F0-4AB1-840F-F36817BEB9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90003" y="6341808"/>
            <a:ext cx="476864" cy="408038"/>
          </a:xfrm>
          <a:prstGeom prst="rect">
            <a:avLst/>
          </a:prstGeom>
        </p:spPr>
      </p:pic>
      <p:pic>
        <p:nvPicPr>
          <p:cNvPr id="11" name="Graphic 10" descr="Home with solid fill">
            <a:hlinkClick r:id="rId8" action="ppaction://hlinksldjump"/>
            <a:extLst>
              <a:ext uri="{FF2B5EF4-FFF2-40B4-BE49-F238E27FC236}">
                <a16:creationId xmlns:a16="http://schemas.microsoft.com/office/drawing/2014/main" id="{6B9B2657-EC5A-41E8-8B8C-0E7DED6FEA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00968" y="6341808"/>
            <a:ext cx="476865" cy="40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007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F4A024-E9AC-4826-9C95-2C326E773DA5}"/>
              </a:ext>
            </a:extLst>
          </p:cNvPr>
          <p:cNvSpPr txBox="1"/>
          <p:nvPr/>
        </p:nvSpPr>
        <p:spPr>
          <a:xfrm>
            <a:off x="943897" y="360000"/>
            <a:ext cx="103042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u="sng" dirty="0"/>
              <a:t>Customer Demographics: Age &amp; Gender Correlation</a:t>
            </a:r>
            <a:endParaRPr lang="en-IN" sz="4000" b="1" i="1" u="sng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F199307-FF6F-4EEA-BD8A-04932CEB26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4712593"/>
              </p:ext>
            </p:extLst>
          </p:nvPr>
        </p:nvGraphicFramePr>
        <p:xfrm>
          <a:off x="943897" y="2025445"/>
          <a:ext cx="4473677" cy="42573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EC0F7C-0D44-4186-B432-6A7A0FF33F36}"/>
              </a:ext>
            </a:extLst>
          </p:cNvPr>
          <p:cNvSpPr txBox="1"/>
          <p:nvPr/>
        </p:nvSpPr>
        <p:spPr>
          <a:xfrm>
            <a:off x="6059488" y="2554664"/>
            <a:ext cx="507356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Findings</a:t>
            </a:r>
          </a:p>
          <a:p>
            <a:endParaRPr lang="en-US" sz="1400" dirty="0"/>
          </a:p>
          <a:p>
            <a:r>
              <a:rPr lang="en-US" sz="1400" dirty="0"/>
              <a:t>Primary Persona: "The Adult Female segment is our most valuable demographic, contributing over half (52.78%) of all orders."</a:t>
            </a:r>
          </a:p>
          <a:p>
            <a:endParaRPr lang="en-US" sz="1400" dirty="0"/>
          </a:p>
          <a:p>
            <a:r>
              <a:rPr lang="en-US" sz="1400" dirty="0"/>
              <a:t>Gender Consistency: "Women consistently outpace men by a ratio of 2:1 or higher across all three life stages (Teen, Adult, and Senior)."</a:t>
            </a:r>
          </a:p>
          <a:p>
            <a:endParaRPr lang="en-US" sz="1400" dirty="0"/>
          </a:p>
          <a:p>
            <a:r>
              <a:rPr lang="en-US" sz="1400" dirty="0"/>
              <a:t>Market Concentration: "With 76% of all orders coming from the 'Adult' group, marketing efforts should be heavily weighted towards customers below 20.</a:t>
            </a:r>
            <a:endParaRPr lang="en-IN" sz="1400" dirty="0"/>
          </a:p>
        </p:txBody>
      </p:sp>
      <p:pic>
        <p:nvPicPr>
          <p:cNvPr id="9" name="Graphic 8" descr="Arrow: Straight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056E4CA5-2FCF-4ED0-8680-2AC0644E57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45486" y="6341808"/>
            <a:ext cx="476864" cy="408038"/>
          </a:xfrm>
          <a:prstGeom prst="rect">
            <a:avLst/>
          </a:prstGeom>
        </p:spPr>
      </p:pic>
      <p:pic>
        <p:nvPicPr>
          <p:cNvPr id="10" name="Graphic 9" descr="Arrow: Slight curve with solid fill">
            <a:hlinkClick r:id="rId6" action="ppaction://hlinksldjump"/>
            <a:extLst>
              <a:ext uri="{FF2B5EF4-FFF2-40B4-BE49-F238E27FC236}">
                <a16:creationId xmlns:a16="http://schemas.microsoft.com/office/drawing/2014/main" id="{D29B5E98-347C-4359-9B37-E9A1330402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90003" y="6341808"/>
            <a:ext cx="476864" cy="408038"/>
          </a:xfrm>
          <a:prstGeom prst="rect">
            <a:avLst/>
          </a:prstGeom>
        </p:spPr>
      </p:pic>
      <p:pic>
        <p:nvPicPr>
          <p:cNvPr id="11" name="Graphic 10" descr="Home with solid fill">
            <a:hlinkClick r:id="rId9" action="ppaction://hlinksldjump"/>
            <a:extLst>
              <a:ext uri="{FF2B5EF4-FFF2-40B4-BE49-F238E27FC236}">
                <a16:creationId xmlns:a16="http://schemas.microsoft.com/office/drawing/2014/main" id="{B610EF71-9A8D-4E53-9C25-F63598C5C55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00968" y="6341808"/>
            <a:ext cx="476865" cy="40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31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F4A024-E9AC-4826-9C95-2C326E773DA5}"/>
              </a:ext>
            </a:extLst>
          </p:cNvPr>
          <p:cNvSpPr txBox="1"/>
          <p:nvPr/>
        </p:nvSpPr>
        <p:spPr>
          <a:xfrm>
            <a:off x="2183877" y="360000"/>
            <a:ext cx="78242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i="1" u="sng" dirty="0"/>
              <a:t>Channel Performance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8302AF-39D2-46DA-86E2-0EA9721FDC40}"/>
              </a:ext>
            </a:extLst>
          </p:cNvPr>
          <p:cNvSpPr txBox="1"/>
          <p:nvPr/>
        </p:nvSpPr>
        <p:spPr>
          <a:xfrm>
            <a:off x="1663502" y="4071259"/>
            <a:ext cx="88649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Strategic Takeaways</a:t>
            </a:r>
          </a:p>
          <a:p>
            <a:endParaRPr lang="en-US" sz="1400" u="sng" dirty="0"/>
          </a:p>
          <a:p>
            <a:r>
              <a:rPr lang="en-US" sz="1400" dirty="0"/>
              <a:t>The "So What?" for this data points toward where your marketing budget should go:</a:t>
            </a:r>
          </a:p>
          <a:p>
            <a:endParaRPr lang="en-US" sz="1400" dirty="0"/>
          </a:p>
          <a:p>
            <a:r>
              <a:rPr lang="en-US" sz="1400" dirty="0"/>
              <a:t>Market Concentration: The 'Big Three' (Amazon, Myntra, Flipkart) contribute roughly ₹17M, showing that our brand strength is tied to major aggregators.</a:t>
            </a:r>
          </a:p>
          <a:p>
            <a:endParaRPr lang="en-US" sz="1400" dirty="0"/>
          </a:p>
          <a:p>
            <a:r>
              <a:rPr lang="en-US" sz="1400" dirty="0"/>
              <a:t>Amazon as Anchor: Amazon is our flagship channel, generating over 1.5x the revenue of our second-largest partner (Myntra).</a:t>
            </a:r>
          </a:p>
          <a:p>
            <a:endParaRPr lang="en-US" sz="1400" dirty="0"/>
          </a:p>
          <a:p>
            <a:r>
              <a:rPr lang="en-US" sz="1400" dirty="0"/>
              <a:t>Growth Opportunity: While </a:t>
            </a:r>
            <a:r>
              <a:rPr lang="en-US" sz="1400" dirty="0" err="1"/>
              <a:t>Ajio</a:t>
            </a:r>
            <a:r>
              <a:rPr lang="en-US" sz="1400" dirty="0"/>
              <a:t> and </a:t>
            </a:r>
            <a:r>
              <a:rPr lang="en-US" sz="1400" dirty="0" err="1"/>
              <a:t>Nalli</a:t>
            </a:r>
            <a:r>
              <a:rPr lang="en-US" sz="1400" dirty="0"/>
              <a:t> show lower volumes (approx. ₹1M each), they represent niche growth segments outside the mass-market giants.</a:t>
            </a:r>
            <a:endParaRPr lang="en-IN" sz="14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974D166-FC8B-4EF0-A37C-A7DA44C0EA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9215236"/>
              </p:ext>
            </p:extLst>
          </p:nvPr>
        </p:nvGraphicFramePr>
        <p:xfrm>
          <a:off x="2480821" y="1476488"/>
          <a:ext cx="7230358" cy="2275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8" name="Graphic 7" descr="Arrow: Straight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243201CA-C580-430E-8C47-BE0C745E58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45486" y="6341808"/>
            <a:ext cx="476864" cy="408038"/>
          </a:xfrm>
          <a:prstGeom prst="rect">
            <a:avLst/>
          </a:prstGeom>
        </p:spPr>
      </p:pic>
      <p:pic>
        <p:nvPicPr>
          <p:cNvPr id="9" name="Graphic 8" descr="Arrow: Slight curve with solid fill">
            <a:hlinkClick r:id="rId6" action="ppaction://hlinksldjump"/>
            <a:extLst>
              <a:ext uri="{FF2B5EF4-FFF2-40B4-BE49-F238E27FC236}">
                <a16:creationId xmlns:a16="http://schemas.microsoft.com/office/drawing/2014/main" id="{C303F2E4-0247-40FA-8F29-69575D3D09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90003" y="6341808"/>
            <a:ext cx="476864" cy="408038"/>
          </a:xfrm>
          <a:prstGeom prst="rect">
            <a:avLst/>
          </a:prstGeom>
        </p:spPr>
      </p:pic>
      <p:pic>
        <p:nvPicPr>
          <p:cNvPr id="10" name="Graphic 9" descr="Home with solid fill">
            <a:hlinkClick r:id="rId9" action="ppaction://hlinksldjump"/>
            <a:extLst>
              <a:ext uri="{FF2B5EF4-FFF2-40B4-BE49-F238E27FC236}">
                <a16:creationId xmlns:a16="http://schemas.microsoft.com/office/drawing/2014/main" id="{2D94D077-2E0A-42BE-A75C-912D4E3FFFC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00968" y="6341808"/>
            <a:ext cx="476865" cy="40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172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52409F-0BD5-4514-A38A-DE474C0820E0}"/>
              </a:ext>
            </a:extLst>
          </p:cNvPr>
          <p:cNvSpPr txBox="1"/>
          <p:nvPr/>
        </p:nvSpPr>
        <p:spPr>
          <a:xfrm>
            <a:off x="2639961" y="2721114"/>
            <a:ext cx="69120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i="1" u="sng" dirty="0"/>
              <a:t>Thank You!</a:t>
            </a:r>
          </a:p>
        </p:txBody>
      </p:sp>
      <p:pic>
        <p:nvPicPr>
          <p:cNvPr id="4" name="Graphic 3" descr="Arrow: Straight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2D275A28-4979-4EFD-B089-0B1790CFB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5486" y="6341808"/>
            <a:ext cx="476864" cy="408038"/>
          </a:xfrm>
          <a:prstGeom prst="rect">
            <a:avLst/>
          </a:prstGeom>
        </p:spPr>
      </p:pic>
      <p:pic>
        <p:nvPicPr>
          <p:cNvPr id="6" name="Graphic 5" descr="Home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9B20F9DA-BB13-4F70-87EE-8422F7203F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00968" y="6341808"/>
            <a:ext cx="476865" cy="40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954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93</TotalTime>
  <Words>590</Words>
  <Application>Microsoft Office PowerPoint</Application>
  <PresentationFormat>Widescreen</PresentationFormat>
  <Paragraphs>90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Google Sans Text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bhupinder singh</dc:creator>
  <cp:lastModifiedBy>bhupinder singh</cp:lastModifiedBy>
  <cp:revision>13</cp:revision>
  <dcterms:created xsi:type="dcterms:W3CDTF">2026-02-28T13:09:40Z</dcterms:created>
  <dcterms:modified xsi:type="dcterms:W3CDTF">2026-02-28T15:19:22Z</dcterms:modified>
</cp:coreProperties>
</file>