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4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8F81"/>
    <a:srgbClr val="D44C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81" d="100"/>
          <a:sy n="81" d="100"/>
        </p:scale>
        <p:origin x="677" y="67"/>
      </p:cViewPr>
      <p:guideLst>
        <p:guide orient="horz" pos="2160"/>
        <p:guide pos="38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E:\YT\Excel%20Project\Reliance%20Digital%20Store\Shoppers%20Stop%20Store%20Data%20Analysi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E:\YT\Excel%20Project\Reliance%20Digital%20Store\Shoppers%20Stop%20Store%20Data%20Analysi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E:\YT\Excel%20Project\Reliance%20Digital%20Store\Shoppers%20Stop%20Store%20Data%20Analysis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E:\YT\Excel%20Project\Reliance%20Digital%20Store\Shoppers%20Stop%20Store%20Data%20Analysis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E:\YT\Excel%20Project\Reliance%20Digital%20Store\Shoppers%20Stop%20Store%20Data%20Analysis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[Shoppers Stop Store Data Analysis.xlsx]Pivots!PivotTable2</c:name>
    <c:fmtId val="22"/>
  </c:pivotSource>
  <c:chart>
    <c:autoTitleDeleted val="1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0.10692833422703882"/>
          <c:y val="0.16675259342582177"/>
          <c:w val="0.76456744580155822"/>
          <c:h val="0.5153844141575326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Pivots!$B$3</c:f>
              <c:strCache>
                <c:ptCount val="1"/>
                <c:pt idx="0">
                  <c:v>Sum of Amount</c:v>
                </c:pt>
              </c:strCache>
            </c:strRef>
          </c:tx>
          <c:spPr>
            <a:solidFill>
              <a:schemeClr val="tx2"/>
            </a:solidFill>
            <a:ln>
              <a:noFill/>
            </a:ln>
            <a:effectLst/>
          </c:spPr>
          <c:invertIfNegative val="0"/>
          <c:cat>
            <c:strRef>
              <c:f>Pivots!$A$4:$A$16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Pivots!$B$4:$B$16</c:f>
              <c:numCache>
                <c:formatCode>General</c:formatCode>
                <c:ptCount val="12"/>
                <c:pt idx="0">
                  <c:v>1820601</c:v>
                </c:pt>
                <c:pt idx="1">
                  <c:v>1875932</c:v>
                </c:pt>
                <c:pt idx="2">
                  <c:v>1928066</c:v>
                </c:pt>
                <c:pt idx="3">
                  <c:v>1829263</c:v>
                </c:pt>
                <c:pt idx="4">
                  <c:v>1797822</c:v>
                </c:pt>
                <c:pt idx="5">
                  <c:v>1750966</c:v>
                </c:pt>
                <c:pt idx="6">
                  <c:v>1772300</c:v>
                </c:pt>
                <c:pt idx="7">
                  <c:v>1808505</c:v>
                </c:pt>
                <c:pt idx="8">
                  <c:v>1688871</c:v>
                </c:pt>
                <c:pt idx="9">
                  <c:v>1666662</c:v>
                </c:pt>
                <c:pt idx="10">
                  <c:v>1615356</c:v>
                </c:pt>
                <c:pt idx="11">
                  <c:v>1622033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100-4997-9EB8-83C5282EFA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181371295"/>
        <c:axId val="1181372127"/>
      </c:barChart>
      <c:lineChart>
        <c:grouping val="standard"/>
        <c:varyColors val="0"/>
        <c:ser>
          <c:idx val="1"/>
          <c:order val="1"/>
          <c:tx>
            <c:strRef>
              <c:f>Pivots!$C$3</c:f>
              <c:strCache>
                <c:ptCount val="1"/>
                <c:pt idx="0">
                  <c:v>Count of Order ID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Pivots!$A$4:$A$16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Pivots!$C$4:$C$16</c:f>
              <c:numCache>
                <c:formatCode>General</c:formatCode>
                <c:ptCount val="12"/>
                <c:pt idx="0">
                  <c:v>2702</c:v>
                </c:pt>
                <c:pt idx="1">
                  <c:v>2750</c:v>
                </c:pt>
                <c:pt idx="2">
                  <c:v>2819</c:v>
                </c:pt>
                <c:pt idx="3">
                  <c:v>2685</c:v>
                </c:pt>
                <c:pt idx="4">
                  <c:v>2617</c:v>
                </c:pt>
                <c:pt idx="5">
                  <c:v>2597</c:v>
                </c:pt>
                <c:pt idx="6">
                  <c:v>2579</c:v>
                </c:pt>
                <c:pt idx="7">
                  <c:v>2617</c:v>
                </c:pt>
                <c:pt idx="8">
                  <c:v>2490</c:v>
                </c:pt>
                <c:pt idx="9">
                  <c:v>2424</c:v>
                </c:pt>
                <c:pt idx="10">
                  <c:v>2383</c:v>
                </c:pt>
                <c:pt idx="11">
                  <c:v>2384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100-4997-9EB8-83C5282EFA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320462511"/>
        <c:axId val="1320461263"/>
      </c:lineChart>
      <c:catAx>
        <c:axId val="1181371295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81372127"/>
        <c:crosses val="autoZero"/>
        <c:auto val="1"/>
        <c:lblAlgn val="ctr"/>
        <c:lblOffset val="100"/>
        <c:noMultiLvlLbl val="0"/>
      </c:catAx>
      <c:valAx>
        <c:axId val="1181372127"/>
        <c:scaling>
          <c:orientation val="minMax"/>
        </c:scaling>
        <c:delete val="0"/>
        <c:axPos val="l"/>
        <c:numFmt formatCode="0.00,,&quot;M&quot;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81371295"/>
        <c:crosses val="autoZero"/>
        <c:crossBetween val="between"/>
      </c:valAx>
      <c:valAx>
        <c:axId val="1320461263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20462511"/>
        <c:crosses val="max"/>
        <c:crossBetween val="between"/>
      </c:valAx>
      <c:catAx>
        <c:axId val="1320462511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crossAx val="1320461263"/>
        <c:crosses val="max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ayout>
        <c:manualLayout>
          <c:xMode val="edge"/>
          <c:yMode val="edge"/>
          <c:x val="2.516326699320065E-2"/>
          <c:y val="0.83393500231075768"/>
          <c:w val="0.92514285861905055"/>
          <c:h val="0.119214056576261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[Shoppers Stop Store Data Analysis.xlsx]Pivots!PivotTable3</c:name>
    <c:fmtId val="13"/>
  </c:pivotSource>
  <c:chart>
    <c:autoTitleDeleted val="1"/>
    <c:pivotFmts>
      <c:pivotFmt>
        <c:idx val="0"/>
        <c:spPr>
          <a:solidFill>
            <a:schemeClr val="accent6"/>
          </a:solidFill>
          <a:ln w="1905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6"/>
          </a:solidFill>
          <a:ln w="1905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  <c:marker>
          <c:symbol val="none"/>
        </c:marker>
        <c:dLbl>
          <c:idx val="0"/>
          <c:spPr>
            <a:solidFill>
              <a:sysClr val="window" lastClr="FFFFFF"/>
            </a:solidFill>
            <a:ln>
              <a:solidFill>
                <a:sysClr val="windowText" lastClr="000000">
                  <a:lumMod val="25000"/>
                  <a:lumOff val="75000"/>
                </a:sysClr>
              </a:solidFill>
            </a:ln>
            <a:effectLst/>
          </c:spPr>
          <c:txPr>
            <a:bodyPr rot="0" spcFirstLastPara="1" vertOverflow="clip" horzOverflow="clip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extLst>
            <c:ext xmlns:c15="http://schemas.microsoft.com/office/drawing/2012/chart" uri="{CE6537A1-D6FC-4f65-9D91-7224C49458BB}">
              <c15:spPr xmlns:c15="http://schemas.microsoft.com/office/drawing/2012/chart">
                <a:prstGeom prst="wedgeRectCallout">
                  <a:avLst/>
                </a:prstGeom>
                <a:noFill/>
                <a:ln>
                  <a:noFill/>
                </a:ln>
              </c15:spPr>
            </c:ext>
          </c:extLst>
        </c:dLbl>
      </c:pivotFmt>
      <c:pivotFmt>
        <c:idx val="2"/>
        <c:spPr>
          <a:solidFill>
            <a:schemeClr val="accent6"/>
          </a:solidFill>
          <a:ln w="1905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</c:pivotFmt>
      <c:pivotFmt>
        <c:idx val="3"/>
        <c:spPr>
          <a:solidFill>
            <a:schemeClr val="accent6"/>
          </a:solidFill>
          <a:ln w="1905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</c:pivotFmt>
      <c:pivotFmt>
        <c:idx val="4"/>
        <c:spPr>
          <a:solidFill>
            <a:schemeClr val="accent6"/>
          </a:solidFill>
          <a:ln w="1905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  <c:marker>
          <c:symbol val="none"/>
        </c:marker>
        <c:dLbl>
          <c:idx val="0"/>
          <c:spPr>
            <a:solidFill>
              <a:sysClr val="window" lastClr="FFFFFF"/>
            </a:solidFill>
            <a:ln>
              <a:solidFill>
                <a:sysClr val="windowText" lastClr="000000">
                  <a:lumMod val="25000"/>
                  <a:lumOff val="75000"/>
                </a:sysClr>
              </a:solidFill>
            </a:ln>
            <a:effectLst/>
          </c:spPr>
          <c:txPr>
            <a:bodyPr rot="0" spcFirstLastPara="1" vertOverflow="clip" horzOverflow="clip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extLst>
            <c:ext xmlns:c15="http://schemas.microsoft.com/office/drawing/2012/chart" uri="{CE6537A1-D6FC-4f65-9D91-7224C49458BB}">
              <c15:spPr xmlns:c15="http://schemas.microsoft.com/office/drawing/2012/chart">
                <a:prstGeom prst="wedgeRectCallout">
                  <a:avLst/>
                </a:prstGeom>
                <a:noFill/>
                <a:ln>
                  <a:noFill/>
                </a:ln>
              </c15:spPr>
            </c:ext>
          </c:extLst>
        </c:dLbl>
      </c:pivotFmt>
      <c:pivotFmt>
        <c:idx val="5"/>
        <c:spPr>
          <a:solidFill>
            <a:schemeClr val="accent6"/>
          </a:solidFill>
          <a:ln w="1905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</c:pivotFmt>
      <c:pivotFmt>
        <c:idx val="6"/>
        <c:spPr>
          <a:solidFill>
            <a:schemeClr val="accent6"/>
          </a:solidFill>
          <a:ln w="1905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</c:pivotFmt>
      <c:pivotFmt>
        <c:idx val="7"/>
        <c:spPr>
          <a:solidFill>
            <a:schemeClr val="accent6"/>
          </a:solidFill>
          <a:ln w="2540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  <c:marker>
          <c:symbol val="none"/>
        </c:marker>
        <c:dLbl>
          <c:idx val="0"/>
          <c:spPr>
            <a:solidFill>
              <a:sysClr val="window" lastClr="FFFFFF"/>
            </a:solidFill>
            <a:ln>
              <a:solidFill>
                <a:sysClr val="windowText" lastClr="000000">
                  <a:lumMod val="25000"/>
                  <a:lumOff val="75000"/>
                </a:sysClr>
              </a:solidFill>
            </a:ln>
            <a:effectLst/>
          </c:spPr>
          <c:txPr>
            <a:bodyPr rot="0" spcFirstLastPara="1" vertOverflow="clip" horzOverflow="clip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extLst>
            <c:ext xmlns:c15="http://schemas.microsoft.com/office/drawing/2012/chart" uri="{CE6537A1-D6FC-4f65-9D91-7224C49458BB}">
              <c15:spPr xmlns:c15="http://schemas.microsoft.com/office/drawing/2012/chart">
                <a:prstGeom prst="wedgeRectCallout">
                  <a:avLst/>
                </a:prstGeom>
                <a:noFill/>
                <a:ln>
                  <a:noFill/>
                </a:ln>
              </c15:spPr>
            </c:ext>
          </c:extLst>
        </c:dLbl>
      </c:pivotFmt>
      <c:pivotFmt>
        <c:idx val="8"/>
        <c:spPr>
          <a:solidFill>
            <a:schemeClr val="accent6"/>
          </a:solidFill>
          <a:ln w="2540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</c:pivotFmt>
      <c:pivotFmt>
        <c:idx val="9"/>
        <c:spPr>
          <a:solidFill>
            <a:schemeClr val="accent6"/>
          </a:solidFill>
          <a:ln w="2540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</c:pivotFmt>
      <c:pivotFmt>
        <c:idx val="10"/>
        <c:spPr>
          <a:solidFill>
            <a:schemeClr val="accent6"/>
          </a:solidFill>
          <a:ln w="2540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  <c:marker>
          <c:symbol val="none"/>
        </c:marker>
        <c:dLbl>
          <c:idx val="0"/>
          <c:spPr>
            <a:solidFill>
              <a:sysClr val="window" lastClr="FFFFFF"/>
            </a:solidFill>
            <a:ln>
              <a:solidFill>
                <a:sysClr val="windowText" lastClr="000000">
                  <a:lumMod val="25000"/>
                  <a:lumOff val="75000"/>
                </a:sysClr>
              </a:solidFill>
            </a:ln>
            <a:effectLst/>
          </c:spPr>
          <c:txPr>
            <a:bodyPr rot="0" spcFirstLastPara="1" vertOverflow="clip" horzOverflow="clip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extLst>
            <c:ext xmlns:c15="http://schemas.microsoft.com/office/drawing/2012/chart" uri="{CE6537A1-D6FC-4f65-9D91-7224C49458BB}">
              <c15:spPr xmlns:c15="http://schemas.microsoft.com/office/drawing/2012/chart">
                <a:prstGeom prst="wedgeRectCallout">
                  <a:avLst/>
                </a:prstGeom>
                <a:noFill/>
                <a:ln>
                  <a:noFill/>
                </a:ln>
              </c15:spPr>
            </c:ext>
          </c:extLst>
        </c:dLbl>
      </c:pivotFmt>
      <c:pivotFmt>
        <c:idx val="11"/>
        <c:spPr>
          <a:solidFill>
            <a:schemeClr val="accent6"/>
          </a:solidFill>
          <a:ln w="2540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</c:pivotFmt>
      <c:pivotFmt>
        <c:idx val="12"/>
        <c:spPr>
          <a:solidFill>
            <a:schemeClr val="accent6"/>
          </a:solidFill>
          <a:ln w="2540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</c:pivotFmt>
      <c:pivotFmt>
        <c:idx val="13"/>
        <c:spPr>
          <a:solidFill>
            <a:schemeClr val="accent6"/>
          </a:solidFill>
          <a:ln w="2540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  <c:marker>
          <c:symbol val="none"/>
        </c:marker>
        <c:dLbl>
          <c:idx val="0"/>
          <c:spPr>
            <a:solidFill>
              <a:sysClr val="window" lastClr="FFFFFF"/>
            </a:solidFill>
            <a:ln>
              <a:solidFill>
                <a:sysClr val="windowText" lastClr="000000">
                  <a:lumMod val="25000"/>
                  <a:lumOff val="75000"/>
                </a:sysClr>
              </a:solidFill>
            </a:ln>
            <a:effectLst/>
          </c:spPr>
          <c:txPr>
            <a:bodyPr rot="0" spcFirstLastPara="1" vertOverflow="clip" horzOverflow="clip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extLst>
            <c:ext xmlns:c15="http://schemas.microsoft.com/office/drawing/2012/chart" uri="{CE6537A1-D6FC-4f65-9D91-7224C49458BB}">
              <c15:spPr xmlns:c15="http://schemas.microsoft.com/office/drawing/2012/chart">
                <a:prstGeom prst="wedgeRectCallout">
                  <a:avLst/>
                </a:prstGeom>
                <a:noFill/>
                <a:ln>
                  <a:noFill/>
                </a:ln>
              </c15:spPr>
            </c:ext>
          </c:extLst>
        </c:dLbl>
      </c:pivotFmt>
      <c:pivotFmt>
        <c:idx val="14"/>
        <c:spPr>
          <a:solidFill>
            <a:schemeClr val="accent6"/>
          </a:solidFill>
          <a:ln w="2540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</c:pivotFmt>
      <c:pivotFmt>
        <c:idx val="15"/>
        <c:spPr>
          <a:solidFill>
            <a:schemeClr val="accent6"/>
          </a:solidFill>
          <a:ln w="2540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</c:pivotFmt>
      <c:pivotFmt>
        <c:idx val="16"/>
        <c:spPr>
          <a:solidFill>
            <a:schemeClr val="accent6"/>
          </a:solidFill>
          <a:ln w="2540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  <c:marker>
          <c:symbol val="none"/>
        </c:marker>
        <c:dLbl>
          <c:idx val="0"/>
          <c:spPr>
            <a:solidFill>
              <a:sysClr val="window" lastClr="FFFFFF"/>
            </a:solidFill>
            <a:ln>
              <a:solidFill>
                <a:sysClr val="windowText" lastClr="000000">
                  <a:lumMod val="25000"/>
                  <a:lumOff val="75000"/>
                </a:sysClr>
              </a:solidFill>
            </a:ln>
            <a:effectLst/>
          </c:spPr>
          <c:txPr>
            <a:bodyPr rot="0" spcFirstLastPara="1" vertOverflow="clip" horzOverflow="clip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extLst>
            <c:ext xmlns:c15="http://schemas.microsoft.com/office/drawing/2012/chart" uri="{CE6537A1-D6FC-4f65-9D91-7224C49458BB}">
              <c15:spPr xmlns:c15="http://schemas.microsoft.com/office/drawing/2012/chart">
                <a:prstGeom prst="wedgeRectCallout">
                  <a:avLst/>
                </a:prstGeom>
                <a:noFill/>
                <a:ln>
                  <a:noFill/>
                </a:ln>
              </c15:spPr>
            </c:ext>
          </c:extLst>
        </c:dLbl>
      </c:pivotFmt>
      <c:pivotFmt>
        <c:idx val="17"/>
        <c:spPr>
          <a:solidFill>
            <a:schemeClr val="accent6"/>
          </a:solidFill>
          <a:ln w="2540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</c:pivotFmt>
      <c:pivotFmt>
        <c:idx val="18"/>
        <c:spPr>
          <a:solidFill>
            <a:schemeClr val="accent6"/>
          </a:solidFill>
          <a:ln w="2540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</c:pivotFmt>
    </c:pivotFmts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pie3DChart>
        <c:varyColors val="1"/>
        <c:ser>
          <c:idx val="0"/>
          <c:order val="0"/>
          <c:tx>
            <c:strRef>
              <c:f>Pivots!$H$3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3D8F8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C223-4C2D-994B-2D222ECC1F7B}"/>
              </c:ext>
            </c:extLst>
          </c:dPt>
          <c:dPt>
            <c:idx val="1"/>
            <c:bubble3D val="0"/>
            <c:spPr>
              <a:solidFill>
                <a:srgbClr val="D44CCA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C223-4C2D-994B-2D222ECC1F7B}"/>
              </c:ext>
            </c:extLst>
          </c:dPt>
          <c:dLbls>
            <c:dLbl>
              <c:idx val="0"/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1694947315300699"/>
                      <c:h val="0.14105197552647053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223-4C2D-994B-2D222ECC1F7B}"/>
                </c:ext>
              </c:extLst>
            </c:dLbl>
            <c:dLbl>
              <c:idx val="1"/>
              <c:spPr>
                <a:solidFill>
                  <a:prstClr val="white"/>
                </a:solidFill>
                <a:ln>
                  <a:solidFill>
                    <a:sysClr val="windowText" lastClr="000000">
                      <a:lumMod val="25000"/>
                      <a:lumOff val="75000"/>
                    </a:sysClr>
                  </a:solidFill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9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wedgeRectCallout">
                      <a:avLst/>
                    </a:prstGeom>
                    <a:noFill/>
                    <a:ln>
                      <a:noFill/>
                    </a:ln>
                  </c15:spPr>
                  <c15:layout>
                    <c:manualLayout>
                      <c:w val="0.120751789005966"/>
                      <c:h val="0.14105197552647053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223-4C2D-994B-2D222ECC1F7B}"/>
                </c:ext>
              </c:extLst>
            </c:dLbl>
            <c:spPr>
              <a:solidFill>
                <a:sysClr val="window" lastClr="FFFFFF"/>
              </a:solidFill>
              <a:ln>
                <a:solidFill>
                  <a:sysClr val="windowText" lastClr="000000">
                    <a:lumMod val="25000"/>
                    <a:lumOff val="75000"/>
                  </a:sysClr>
                </a:solidFill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</c:ext>
            </c:extLst>
          </c:dLbls>
          <c:cat>
            <c:strRef>
              <c:f>Pivots!$G$4:$G$5</c:f>
              <c:strCache>
                <c:ptCount val="2"/>
                <c:pt idx="0">
                  <c:v>Men</c:v>
                </c:pt>
                <c:pt idx="1">
                  <c:v>Women</c:v>
                </c:pt>
              </c:strCache>
            </c:strRef>
          </c:cat>
          <c:val>
            <c:numRef>
              <c:f>Pivots!$H$4:$H$5</c:f>
              <c:numCache>
                <c:formatCode>General</c:formatCode>
                <c:ptCount val="2"/>
                <c:pt idx="0">
                  <c:v>7613604</c:v>
                </c:pt>
                <c:pt idx="1">
                  <c:v>13562773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223-4C2D-994B-2D222ECC1F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</c:pie3D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[Shoppers Stop Store Data Analysis.xlsx]Pivots!PivotTable4</c:name>
    <c:fmtId val="14"/>
  </c:pivotSource>
  <c:chart>
    <c:autoTitleDeleted val="1"/>
    <c:pivotFmts>
      <c:pivotFmt>
        <c:idx val="0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dLbl>
          <c:idx val="0"/>
          <c:layout>
            <c:manualLayout>
              <c:x val="1.7094017094017096E-2"/>
              <c:y val="-1.4398848092152628E-2"/>
            </c:manualLayout>
          </c:layout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dLbl>
          <c:idx val="0"/>
          <c:layout>
            <c:manualLayout>
              <c:x val="1.7094017094017096E-2"/>
              <c:y val="-1.4398848092152628E-2"/>
            </c:manualLayout>
          </c:layout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dLbl>
          <c:idx val="0"/>
          <c:layout>
            <c:manualLayout>
              <c:x val="1.7094017094017096E-2"/>
              <c:y val="-1.4398848092152628E-2"/>
            </c:manualLayout>
          </c:layout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</c:spPr>
        <c:dLbl>
          <c:idx val="0"/>
          <c:layout>
            <c:manualLayout>
              <c:x val="1.7094017094017096E-2"/>
              <c:y val="-1.4398848092152628E-2"/>
            </c:manualLayout>
          </c:layout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0.18997139517716538"/>
          <c:y val="0.26702663786897046"/>
          <c:w val="0.73711193815616793"/>
          <c:h val="0.5659591957052884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Pivots!$H$10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tx1"/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chemeClr val="tx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7CC6-4782-8220-C62CFB604A5F}"/>
              </c:ext>
            </c:extLst>
          </c:dPt>
          <c:dLbls>
            <c:dLbl>
              <c:idx val="0"/>
              <c:layout>
                <c:manualLayout>
                  <c:x val="3.1512411616114303E-2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7CC6-4782-8220-C62CFB604A5F}"/>
                </c:ext>
              </c:extLst>
            </c:dLbl>
            <c:dLbl>
              <c:idx val="1"/>
              <c:layout>
                <c:manualLayout>
                  <c:x val="1.7094017094017096E-2"/>
                  <c:y val="-1.439884809215262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CC6-4782-8220-C62CFB604A5F}"/>
                </c:ext>
              </c:extLst>
            </c:dLbl>
            <c:dLbl>
              <c:idx val="2"/>
              <c:layout>
                <c:manualLayout>
                  <c:x val="4.3497799134856317E-2"/>
                  <c:y val="-9.7751710654936461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CC6-4782-8220-C62CFB604A5F}"/>
                </c:ext>
              </c:extLst>
            </c:dLbl>
            <c:dLbl>
              <c:idx val="3"/>
              <c:layout>
                <c:manualLayout>
                  <c:x val="2.7279165410953956E-2"/>
                  <c:y val="-4.4802349822944254E-17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7CC6-4782-8220-C62CFB604A5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Pivots!$G$11:$G$15</c:f>
              <c:strCache>
                <c:ptCount val="4"/>
                <c:pt idx="0">
                  <c:v>Cancelled</c:v>
                </c:pt>
                <c:pt idx="1">
                  <c:v>Delivered</c:v>
                </c:pt>
                <c:pt idx="2">
                  <c:v>Refunded</c:v>
                </c:pt>
                <c:pt idx="3">
                  <c:v>Returned</c:v>
                </c:pt>
              </c:strCache>
            </c:strRef>
          </c:cat>
          <c:val>
            <c:numRef>
              <c:f>Pivots!$H$11:$H$15</c:f>
              <c:numCache>
                <c:formatCode>General</c:formatCode>
                <c:ptCount val="4"/>
                <c:pt idx="0">
                  <c:v>844</c:v>
                </c:pt>
                <c:pt idx="1">
                  <c:v>28641</c:v>
                </c:pt>
                <c:pt idx="2">
                  <c:v>517</c:v>
                </c:pt>
                <c:pt idx="3">
                  <c:v>1045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CC6-4782-8220-C62CFB604A5F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1406700047"/>
        <c:axId val="1406697967"/>
      </c:barChart>
      <c:catAx>
        <c:axId val="140670004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effectLst>
                  <a:outerShdw blurRad="50800" dist="50800" dir="5400000" sx="1000" sy="1000" algn="ctr" rotWithShape="0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06697967"/>
        <c:crosses val="autoZero"/>
        <c:auto val="1"/>
        <c:lblAlgn val="ctr"/>
        <c:lblOffset val="100"/>
        <c:noMultiLvlLbl val="0"/>
      </c:catAx>
      <c:valAx>
        <c:axId val="1406697967"/>
        <c:scaling>
          <c:orientation val="minMax"/>
        </c:scaling>
        <c:delete val="1"/>
        <c:axPos val="b"/>
        <c:numFmt formatCode="General" sourceLinked="0"/>
        <c:majorTickMark val="none"/>
        <c:minorTickMark val="none"/>
        <c:tickLblPos val="nextTo"/>
        <c:crossAx val="140670004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[Shoppers Stop Store Data Analysis.xlsx]Pivots!PivotTable8</c:name>
    <c:fmtId val="15"/>
  </c:pivotSource>
  <c:chart>
    <c:autoTitleDeleted val="1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0.13363145059623452"/>
          <c:y val="0.20977646544181974"/>
          <c:w val="0.76717332581437936"/>
          <c:h val="0.5926292782306805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Pivots!$H$20:$H$21</c:f>
              <c:strCache>
                <c:ptCount val="1"/>
                <c:pt idx="0">
                  <c:v>Men</c:v>
                </c:pt>
              </c:strCache>
            </c:strRef>
          </c:tx>
          <c:spPr>
            <a:solidFill>
              <a:schemeClr val="accent5">
                <a:lumMod val="7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Pivots!$G$22:$G$24</c:f>
              <c:strCache>
                <c:ptCount val="3"/>
                <c:pt idx="0">
                  <c:v>Adult</c:v>
                </c:pt>
                <c:pt idx="1">
                  <c:v>Senior</c:v>
                </c:pt>
                <c:pt idx="2">
                  <c:v>Teenager</c:v>
                </c:pt>
              </c:strCache>
            </c:strRef>
          </c:cat>
          <c:val>
            <c:numRef>
              <c:f>Pivots!$H$22:$H$24</c:f>
              <c:numCache>
                <c:formatCode>0.00%</c:formatCode>
                <c:ptCount val="3"/>
                <c:pt idx="0">
                  <c:v>0.23477308596643798</c:v>
                </c:pt>
                <c:pt idx="1">
                  <c:v>5.7235803781363739E-2</c:v>
                </c:pt>
                <c:pt idx="2">
                  <c:v>1.3785550938899089E-2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9CE-45D8-AA80-B95CBA83494E}"/>
            </c:ext>
          </c:extLst>
        </c:ser>
        <c:ser>
          <c:idx val="1"/>
          <c:order val="1"/>
          <c:tx>
            <c:strRef>
              <c:f>Pivots!$I$20:$I$21</c:f>
              <c:strCache>
                <c:ptCount val="1"/>
                <c:pt idx="0">
                  <c:v>Women</c:v>
                </c:pt>
              </c:strCache>
            </c:strRef>
          </c:tx>
          <c:spPr>
            <a:solidFill>
              <a:schemeClr val="accent3">
                <a:alpha val="99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Pivots!$G$22:$G$24</c:f>
              <c:strCache>
                <c:ptCount val="3"/>
                <c:pt idx="0">
                  <c:v>Adult</c:v>
                </c:pt>
                <c:pt idx="1">
                  <c:v>Senior</c:v>
                </c:pt>
                <c:pt idx="2">
                  <c:v>Teenager</c:v>
                </c:pt>
              </c:strCache>
            </c:strRef>
          </c:cat>
          <c:val>
            <c:numRef>
              <c:f>Pivots!$I$22:$I$24</c:f>
              <c:numCache>
                <c:formatCode>0.00%</c:formatCode>
                <c:ptCount val="3"/>
                <c:pt idx="0">
                  <c:v>0.52781267111154062</c:v>
                </c:pt>
                <c:pt idx="1">
                  <c:v>0.13308854317647437</c:v>
                </c:pt>
                <c:pt idx="2">
                  <c:v>3.3304345025284246E-2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9CE-45D8-AA80-B95CBA83494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335274463"/>
        <c:axId val="1335274879"/>
      </c:barChart>
      <c:catAx>
        <c:axId val="13352744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35274879"/>
        <c:crosses val="autoZero"/>
        <c:auto val="1"/>
        <c:lblAlgn val="ctr"/>
        <c:lblOffset val="100"/>
        <c:noMultiLvlLbl val="0"/>
      </c:catAx>
      <c:valAx>
        <c:axId val="1335274879"/>
        <c:scaling>
          <c:orientation val="minMax"/>
        </c:scaling>
        <c:delete val="0"/>
        <c:axPos val="l"/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3527446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18979528255254569"/>
          <c:y val="0.89821286874024475"/>
          <c:w val="0.65228826309990628"/>
          <c:h val="0.1009617983798536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[Shoppers Stop Store Data Analysis.xlsx]Pivots!PivotTable6</c:name>
    <c:fmtId val="12"/>
  </c:pivotSource>
  <c:chart>
    <c:autoTitleDeleted val="1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numFmt formatCode="0.00,,&quot;M&quot;" sourceLinked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numFmt formatCode="0.00,,&quot;M&quot;" sourceLinked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numFmt formatCode="0.00,,&quot;M&quot;" sourceLinked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numFmt formatCode="0.00,,&quot;M&quot;" sourceLinked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9.7083574561591557E-2"/>
          <c:y val="7.8201368523949169E-2"/>
          <c:w val="0.90291642543840844"/>
          <c:h val="0.8335942611279162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Pivots!$L$3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tx1"/>
            </a:solidFill>
            <a:ln>
              <a:noFill/>
            </a:ln>
            <a:effectLst/>
          </c:spPr>
          <c:invertIfNegative val="0"/>
          <c:dLbls>
            <c:numFmt formatCode="0.00,,&quot;M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Pivots!$K$4:$K$10</c:f>
              <c:strCache>
                <c:ptCount val="7"/>
                <c:pt idx="0">
                  <c:v>Amazon</c:v>
                </c:pt>
                <c:pt idx="1">
                  <c:v>Myntra</c:v>
                </c:pt>
                <c:pt idx="2">
                  <c:v>Flipkart</c:v>
                </c:pt>
                <c:pt idx="3">
                  <c:v>Ajio</c:v>
                </c:pt>
                <c:pt idx="4">
                  <c:v>Nalli</c:v>
                </c:pt>
                <c:pt idx="5">
                  <c:v>Meesho</c:v>
                </c:pt>
                <c:pt idx="6">
                  <c:v>Others</c:v>
                </c:pt>
              </c:strCache>
            </c:strRef>
          </c:cat>
          <c:val>
            <c:numRef>
              <c:f>Pivots!$L$4:$L$10</c:f>
              <c:numCache>
                <c:formatCode>General</c:formatCode>
                <c:ptCount val="7"/>
                <c:pt idx="0">
                  <c:v>7519933</c:v>
                </c:pt>
                <c:pt idx="1">
                  <c:v>4941540</c:v>
                </c:pt>
                <c:pt idx="2">
                  <c:v>4573301</c:v>
                </c:pt>
                <c:pt idx="3">
                  <c:v>1331427</c:v>
                </c:pt>
                <c:pt idx="4">
                  <c:v>1015329</c:v>
                </c:pt>
                <c:pt idx="5">
                  <c:v>927606</c:v>
                </c:pt>
                <c:pt idx="6">
                  <c:v>867241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B42-4D97-9829-2BE2732B964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944605311"/>
        <c:axId val="944601567"/>
      </c:barChart>
      <c:catAx>
        <c:axId val="9446053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44601567"/>
        <c:crosses val="autoZero"/>
        <c:auto val="1"/>
        <c:lblAlgn val="ctr"/>
        <c:lblOffset val="100"/>
        <c:noMultiLvlLbl val="0"/>
      </c:catAx>
      <c:valAx>
        <c:axId val="944601567"/>
        <c:scaling>
          <c:orientation val="minMax"/>
        </c:scaling>
        <c:delete val="0"/>
        <c:axPos val="l"/>
        <c:numFmt formatCode="0.00,,&quot;M&quot;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4460531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6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E539F-27EB-497C-A45A-012B63EDFB9B}" type="datetimeFigureOut">
              <a:rPr lang="en-IN" smtClean="0"/>
              <a:t>02-28-2026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33263-0917-432B-9F8D-1D081D917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409745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E539F-27EB-497C-A45A-012B63EDFB9B}" type="datetimeFigureOut">
              <a:rPr lang="en-IN" smtClean="0"/>
              <a:t>02-28-2026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33263-0917-432B-9F8D-1D081D917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759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E539F-27EB-497C-A45A-012B63EDFB9B}" type="datetimeFigureOut">
              <a:rPr lang="en-IN" smtClean="0"/>
              <a:t>02-28-2026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33263-0917-432B-9F8D-1D081D917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2679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E539F-27EB-497C-A45A-012B63EDFB9B}" type="datetimeFigureOut">
              <a:rPr lang="en-IN" smtClean="0"/>
              <a:t>02-28-2026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33263-0917-432B-9F8D-1D081D917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31674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E539F-27EB-497C-A45A-012B63EDFB9B}" type="datetimeFigureOut">
              <a:rPr lang="en-IN" smtClean="0"/>
              <a:t>02-28-2026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33263-0917-432B-9F8D-1D081D917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451547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E539F-27EB-497C-A45A-012B63EDFB9B}" type="datetimeFigureOut">
              <a:rPr lang="en-IN" smtClean="0"/>
              <a:t>02-28-2026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33263-0917-432B-9F8D-1D081D917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1335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E539F-27EB-497C-A45A-012B63EDFB9B}" type="datetimeFigureOut">
              <a:rPr lang="en-IN" smtClean="0"/>
              <a:t>02-28-2026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33263-0917-432B-9F8D-1D081D917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38768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3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5" y="3129280"/>
            <a:ext cx="34010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E539F-27EB-497C-A45A-012B63EDFB9B}" type="datetimeFigureOut">
              <a:rPr lang="en-IN" smtClean="0"/>
              <a:t>02-28-2026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33263-0917-432B-9F8D-1D081D917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665423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E539F-27EB-497C-A45A-012B63EDFB9B}" type="datetimeFigureOut">
              <a:rPr lang="en-IN" smtClean="0"/>
              <a:t>02-28-2026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33263-0917-432B-9F8D-1D081D917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213132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799"/>
            <a:ext cx="8825658" cy="3640667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E539F-27EB-497C-A45A-012B63EDFB9B}" type="datetimeFigureOut">
              <a:rPr lang="en-IN" smtClean="0"/>
              <a:t>02-28-2026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33263-0917-432B-9F8D-1D081D917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2690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E539F-27EB-497C-A45A-012B63EDFB9B}" type="datetimeFigureOut">
              <a:rPr lang="en-IN" smtClean="0"/>
              <a:t>02-28-2026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33263-0917-432B-9F8D-1D081D917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93743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0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E539F-27EB-497C-A45A-012B63EDFB9B}" type="datetimeFigureOut">
              <a:rPr lang="en-IN" smtClean="0"/>
              <a:t>02-28-2026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33263-0917-432B-9F8D-1D081D917FD0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06112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5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E539F-27EB-497C-A45A-012B63EDFB9B}" type="datetimeFigureOut">
              <a:rPr lang="en-IN" smtClean="0"/>
              <a:t>02-28-2026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33263-0917-432B-9F8D-1D081D917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86343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E539F-27EB-497C-A45A-012B63EDFB9B}" type="datetimeFigureOut">
              <a:rPr lang="en-IN" smtClean="0"/>
              <a:t>02-28-2026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33263-0917-432B-9F8D-1D081D917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63837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E539F-27EB-497C-A45A-012B63EDFB9B}" type="datetimeFigureOut">
              <a:rPr lang="en-IN" smtClean="0"/>
              <a:t>02-28-2026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33263-0917-432B-9F8D-1D081D917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319738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E539F-27EB-497C-A45A-012B63EDFB9B}" type="datetimeFigureOut">
              <a:rPr lang="en-IN" smtClean="0"/>
              <a:t>02-28-2026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33263-0917-432B-9F8D-1D081D917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22026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E539F-27EB-497C-A45A-012B63EDFB9B}" type="datetimeFigureOut">
              <a:rPr lang="en-IN" smtClean="0"/>
              <a:t>02-28-2026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33263-0917-432B-9F8D-1D081D917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96923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44"/>
          <a:stretch/>
        </p:blipFill>
        <p:spPr>
          <a:xfrm>
            <a:off x="0" y="2669685"/>
            <a:ext cx="4035669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7000"/>
                </a:schemeClr>
              </a:gs>
              <a:gs pos="69000">
                <a:schemeClr val="accent5">
                  <a:alpha val="0"/>
                </a:schemeClr>
              </a:gs>
              <a:gs pos="36000">
                <a:schemeClr val="accent5"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9BAE539F-27EB-497C-A45A-012B63EDFB9B}" type="datetimeFigureOut">
              <a:rPr lang="en-IN" smtClean="0"/>
              <a:t>02-28-2026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533263-0917-432B-9F8D-1D081D917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1663897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27" r:id="rId13"/>
    <p:sldLayoutId id="2147483728" r:id="rId14"/>
    <p:sldLayoutId id="2147483729" r:id="rId15"/>
    <p:sldLayoutId id="2147483730" r:id="rId16"/>
    <p:sldLayoutId id="2147483731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" Target="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8.png"/><Relationship Id="rId7" Type="http://schemas.openxmlformats.org/officeDocument/2006/relationships/slide" Target="slide3.xml"/><Relationship Id="rId2" Type="http://schemas.openxmlformats.org/officeDocument/2006/relationships/slide" Target="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Relationship Id="rId9" Type="http://schemas.openxmlformats.org/officeDocument/2006/relationships/image" Target="../media/image7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slide" Target="slide2.xml"/><Relationship Id="rId7" Type="http://schemas.openxmlformats.org/officeDocument/2006/relationships/image" Target="../media/image6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Relationship Id="rId6" Type="http://schemas.openxmlformats.org/officeDocument/2006/relationships/slide" Target="slide4.xml"/><Relationship Id="rId11" Type="http://schemas.openxmlformats.org/officeDocument/2006/relationships/image" Target="../media/image9.svg"/><Relationship Id="rId5" Type="http://schemas.openxmlformats.org/officeDocument/2006/relationships/image" Target="../media/image11.svg"/><Relationship Id="rId10" Type="http://schemas.openxmlformats.org/officeDocument/2006/relationships/image" Target="../media/image8.png"/><Relationship Id="rId4" Type="http://schemas.openxmlformats.org/officeDocument/2006/relationships/image" Target="../media/image10.png"/><Relationship Id="rId9" Type="http://schemas.openxmlformats.org/officeDocument/2006/relationships/slide" Target="slide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slide" Target="slide3.xml"/><Relationship Id="rId7" Type="http://schemas.openxmlformats.org/officeDocument/2006/relationships/image" Target="../media/image6.pn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5.xml"/><Relationship Id="rId11" Type="http://schemas.openxmlformats.org/officeDocument/2006/relationships/image" Target="../media/image9.svg"/><Relationship Id="rId5" Type="http://schemas.openxmlformats.org/officeDocument/2006/relationships/image" Target="../media/image11.svg"/><Relationship Id="rId10" Type="http://schemas.openxmlformats.org/officeDocument/2006/relationships/image" Target="../media/image8.png"/><Relationship Id="rId4" Type="http://schemas.openxmlformats.org/officeDocument/2006/relationships/image" Target="../media/image10.png"/><Relationship Id="rId9" Type="http://schemas.openxmlformats.org/officeDocument/2006/relationships/slide" Target="slide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slide" Target="slide4.xml"/><Relationship Id="rId7" Type="http://schemas.openxmlformats.org/officeDocument/2006/relationships/image" Target="../media/image6.png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1.xml"/><Relationship Id="rId6" Type="http://schemas.openxmlformats.org/officeDocument/2006/relationships/slide" Target="slide6.xml"/><Relationship Id="rId11" Type="http://schemas.openxmlformats.org/officeDocument/2006/relationships/image" Target="../media/image9.svg"/><Relationship Id="rId5" Type="http://schemas.openxmlformats.org/officeDocument/2006/relationships/image" Target="../media/image11.svg"/><Relationship Id="rId10" Type="http://schemas.openxmlformats.org/officeDocument/2006/relationships/image" Target="../media/image8.png"/><Relationship Id="rId4" Type="http://schemas.openxmlformats.org/officeDocument/2006/relationships/image" Target="../media/image10.png"/><Relationship Id="rId9" Type="http://schemas.openxmlformats.org/officeDocument/2006/relationships/slide" Target="slide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3" Type="http://schemas.openxmlformats.org/officeDocument/2006/relationships/image" Target="../media/image10.png"/><Relationship Id="rId7" Type="http://schemas.openxmlformats.org/officeDocument/2006/relationships/image" Target="../media/image7.svg"/><Relationship Id="rId2" Type="http://schemas.openxmlformats.org/officeDocument/2006/relationships/slide" Target="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slide" Target="slide7.xml"/><Relationship Id="rId10" Type="http://schemas.openxmlformats.org/officeDocument/2006/relationships/image" Target="../media/image9.svg"/><Relationship Id="rId4" Type="http://schemas.openxmlformats.org/officeDocument/2006/relationships/image" Target="../media/image11.svg"/><Relationship Id="rId9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slide" Target="slide6.xml"/><Relationship Id="rId7" Type="http://schemas.openxmlformats.org/officeDocument/2006/relationships/image" Target="../media/image6.png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.xml"/><Relationship Id="rId11" Type="http://schemas.openxmlformats.org/officeDocument/2006/relationships/image" Target="../media/image9.svg"/><Relationship Id="rId5" Type="http://schemas.openxmlformats.org/officeDocument/2006/relationships/image" Target="../media/image11.svg"/><Relationship Id="rId10" Type="http://schemas.openxmlformats.org/officeDocument/2006/relationships/image" Target="../media/image8.png"/><Relationship Id="rId4" Type="http://schemas.openxmlformats.org/officeDocument/2006/relationships/image" Target="../media/image10.png"/><Relationship Id="rId9" Type="http://schemas.openxmlformats.org/officeDocument/2006/relationships/slide" Target="slide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slide" Target="slide7.xml"/><Relationship Id="rId7" Type="http://schemas.openxmlformats.org/officeDocument/2006/relationships/image" Target="../media/image6.png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1.xml"/><Relationship Id="rId6" Type="http://schemas.openxmlformats.org/officeDocument/2006/relationships/slide" Target="slide9.xml"/><Relationship Id="rId11" Type="http://schemas.openxmlformats.org/officeDocument/2006/relationships/image" Target="../media/image9.svg"/><Relationship Id="rId5" Type="http://schemas.openxmlformats.org/officeDocument/2006/relationships/image" Target="../media/image11.svg"/><Relationship Id="rId10" Type="http://schemas.openxmlformats.org/officeDocument/2006/relationships/image" Target="../media/image8.png"/><Relationship Id="rId4" Type="http://schemas.openxmlformats.org/officeDocument/2006/relationships/image" Target="../media/image10.png"/><Relationship Id="rId9" Type="http://schemas.openxmlformats.org/officeDocument/2006/relationships/slide" Target="slide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9.svg"/><Relationship Id="rId2" Type="http://schemas.openxmlformats.org/officeDocument/2006/relationships/slide" Target="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slide" Target="slide1.xml"/><Relationship Id="rId4" Type="http://schemas.openxmlformats.org/officeDocument/2006/relationships/image" Target="../media/image1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52409F-0BD5-4514-A38A-DE474C0820E0}"/>
              </a:ext>
            </a:extLst>
          </p:cNvPr>
          <p:cNvSpPr txBox="1"/>
          <p:nvPr/>
        </p:nvSpPr>
        <p:spPr>
          <a:xfrm>
            <a:off x="2639961" y="2721114"/>
            <a:ext cx="691207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000" b="1" i="1" u="sng" dirty="0"/>
              <a:t>Shoppers Stop Digital Store</a:t>
            </a:r>
          </a:p>
        </p:txBody>
      </p:sp>
      <p:pic>
        <p:nvPicPr>
          <p:cNvPr id="3" name="Graphic 2" descr="Arrow: Slight curve with solid fill">
            <a:hlinkClick r:id="rId2" action="ppaction://hlinksldjump"/>
            <a:extLst>
              <a:ext uri="{FF2B5EF4-FFF2-40B4-BE49-F238E27FC236}">
                <a16:creationId xmlns:a16="http://schemas.microsoft.com/office/drawing/2014/main" id="{540812D6-AD88-4196-BF08-16FD6473DF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90003" y="6341808"/>
            <a:ext cx="476864" cy="408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136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FB557C2-EEA7-4F53-BDAB-A5961DF8BF05}"/>
              </a:ext>
            </a:extLst>
          </p:cNvPr>
          <p:cNvSpPr txBox="1"/>
          <p:nvPr/>
        </p:nvSpPr>
        <p:spPr>
          <a:xfrm>
            <a:off x="1889159" y="360000"/>
            <a:ext cx="84136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i="1" u="sng" dirty="0"/>
              <a:t>About Shoppers Stop Digital Store</a:t>
            </a:r>
            <a:endParaRPr lang="en-IN" sz="4000" b="1" i="1" u="sn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8AA24C-9B72-42D0-B002-8A288CB8C902}"/>
              </a:ext>
            </a:extLst>
          </p:cNvPr>
          <p:cNvSpPr txBox="1"/>
          <p:nvPr/>
        </p:nvSpPr>
        <p:spPr>
          <a:xfrm>
            <a:off x="899999" y="1555701"/>
            <a:ext cx="10322351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Our Identity</a:t>
            </a:r>
          </a:p>
          <a:p>
            <a:endParaRPr lang="en-US" b="1" i="1" dirty="0"/>
          </a:p>
          <a:p>
            <a:r>
              <a:rPr lang="en-US" sz="1400" dirty="0"/>
              <a:t>Shoppers Stop is a premier destination for contemporary fashion, blending traditional elegance with modern style. We curate high-quality apparel designed to empower the modern Indian consumer through accessible, trend-driven collections.</a:t>
            </a:r>
          </a:p>
          <a:p>
            <a:endParaRPr lang="en-US" dirty="0"/>
          </a:p>
          <a:p>
            <a:r>
              <a:rPr lang="en-US" b="1" i="1" u="sng" dirty="0"/>
              <a:t>Product Portfolio</a:t>
            </a:r>
          </a:p>
          <a:p>
            <a:endParaRPr lang="en-US" dirty="0"/>
          </a:p>
          <a:p>
            <a:r>
              <a:rPr lang="en-US" sz="1400" dirty="0"/>
              <a:t>Women's Ethnic: Exquisite Kurtas, Blouses, and Sarees.</a:t>
            </a:r>
          </a:p>
          <a:p>
            <a:r>
              <a:rPr lang="en-US" sz="1400" dirty="0"/>
              <a:t>Modern Essentials: Trendy Western Dresses, Tops, and versatile Bottoms.</a:t>
            </a:r>
          </a:p>
          <a:p>
            <a:endParaRPr lang="en-US" dirty="0"/>
          </a:p>
          <a:p>
            <a:r>
              <a:rPr lang="en-US" b="1" i="1" u="sng" dirty="0"/>
              <a:t>Our Digital Footprint</a:t>
            </a:r>
          </a:p>
          <a:p>
            <a:endParaRPr lang="en-US" b="1" i="1" dirty="0"/>
          </a:p>
          <a:p>
            <a:r>
              <a:rPr lang="en-US" sz="1400" dirty="0"/>
              <a:t>We leverage a robust multi-channel distribution network to ensure nationwide reach. You can find our collections on India’s leading e-commerce hubs:</a:t>
            </a:r>
          </a:p>
          <a:p>
            <a:r>
              <a:rPr lang="en-US" sz="1400" dirty="0"/>
              <a:t>Amazon | Myntra | </a:t>
            </a:r>
            <a:r>
              <a:rPr lang="en-US" sz="1400" dirty="0" err="1"/>
              <a:t>Ajio</a:t>
            </a:r>
            <a:r>
              <a:rPr lang="en-US" sz="1400" dirty="0"/>
              <a:t> | Flipkart | </a:t>
            </a:r>
            <a:r>
              <a:rPr lang="en-US" sz="1400" dirty="0" err="1"/>
              <a:t>Meesho</a:t>
            </a:r>
            <a:r>
              <a:rPr lang="en-US" sz="1400" dirty="0"/>
              <a:t> | </a:t>
            </a:r>
            <a:r>
              <a:rPr lang="en-US" sz="1400" dirty="0" err="1"/>
              <a:t>Nalli</a:t>
            </a:r>
            <a:endParaRPr lang="en-US" sz="1400" dirty="0"/>
          </a:p>
        </p:txBody>
      </p:sp>
      <p:pic>
        <p:nvPicPr>
          <p:cNvPr id="3" name="Graphic 2" descr="Home with solid fill">
            <a:hlinkClick r:id="rId2" action="ppaction://hlinksldjump"/>
            <a:extLst>
              <a:ext uri="{FF2B5EF4-FFF2-40B4-BE49-F238E27FC236}">
                <a16:creationId xmlns:a16="http://schemas.microsoft.com/office/drawing/2014/main" id="{7955EEF9-230E-43D8-8B00-CB060E9841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0968" y="6341808"/>
            <a:ext cx="476865" cy="408038"/>
          </a:xfrm>
          <a:prstGeom prst="rect">
            <a:avLst/>
          </a:prstGeom>
        </p:spPr>
      </p:pic>
      <p:pic>
        <p:nvPicPr>
          <p:cNvPr id="5" name="Graphic 4" descr="Arrow: Straight with solid fill">
            <a:hlinkClick r:id="rId2" action="ppaction://hlinksldjump"/>
            <a:extLst>
              <a:ext uri="{FF2B5EF4-FFF2-40B4-BE49-F238E27FC236}">
                <a16:creationId xmlns:a16="http://schemas.microsoft.com/office/drawing/2014/main" id="{75023322-C139-4A9A-AE6D-33D3589D8E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745486" y="6341808"/>
            <a:ext cx="476864" cy="408038"/>
          </a:xfrm>
          <a:prstGeom prst="rect">
            <a:avLst/>
          </a:prstGeom>
        </p:spPr>
      </p:pic>
      <p:pic>
        <p:nvPicPr>
          <p:cNvPr id="9" name="Graphic 8" descr="Arrow: Slight curve with solid fill">
            <a:hlinkClick r:id="rId7" action="ppaction://hlinksldjump"/>
            <a:extLst>
              <a:ext uri="{FF2B5EF4-FFF2-40B4-BE49-F238E27FC236}">
                <a16:creationId xmlns:a16="http://schemas.microsoft.com/office/drawing/2014/main" id="{AC658A82-0A0E-4218-8730-DE356703C76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290003" y="6341808"/>
            <a:ext cx="476864" cy="408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7326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4D11C8AF-D859-4977-8212-2A0BA183BC8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94838956"/>
              </p:ext>
            </p:extLst>
          </p:nvPr>
        </p:nvGraphicFramePr>
        <p:xfrm>
          <a:off x="2399072" y="1514168"/>
          <a:ext cx="7393857" cy="315615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1F4A024-E9AC-4826-9C95-2C326E773DA5}"/>
              </a:ext>
            </a:extLst>
          </p:cNvPr>
          <p:cNvSpPr txBox="1"/>
          <p:nvPr/>
        </p:nvSpPr>
        <p:spPr>
          <a:xfrm>
            <a:off x="1742942" y="360000"/>
            <a:ext cx="8706116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000" b="1" i="1" u="sng" dirty="0"/>
              <a:t>Monthly Sales and Orders Analysis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8302AF-39D2-46DA-86E2-0EA9721FDC40}"/>
              </a:ext>
            </a:extLst>
          </p:cNvPr>
          <p:cNvSpPr txBox="1"/>
          <p:nvPr/>
        </p:nvSpPr>
        <p:spPr>
          <a:xfrm>
            <a:off x="2441032" y="4916129"/>
            <a:ext cx="730993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Peak Performance: March 2025 saw the highest volume and value for the year.</a:t>
            </a:r>
          </a:p>
          <a:p>
            <a:endParaRPr lang="en-US" sz="1400" dirty="0"/>
          </a:p>
          <a:p>
            <a:r>
              <a:rPr lang="en-US" sz="1400" dirty="0"/>
              <a:t>Order Volume: 2,819 orders (Annual High).</a:t>
            </a:r>
          </a:p>
          <a:p>
            <a:endParaRPr lang="en-US" sz="1400" dirty="0"/>
          </a:p>
          <a:p>
            <a:r>
              <a:rPr lang="en-US" sz="1400" dirty="0"/>
              <a:t>Sales Revenue: ₹1.92 Million INR.</a:t>
            </a:r>
            <a:endParaRPr lang="en-IN" sz="1400" dirty="0"/>
          </a:p>
        </p:txBody>
      </p:sp>
      <p:pic>
        <p:nvPicPr>
          <p:cNvPr id="20" name="Graphic 19" descr="Arrow: Straight with solid fill">
            <a:hlinkClick r:id="rId3" action="ppaction://hlinksldjump"/>
            <a:extLst>
              <a:ext uri="{FF2B5EF4-FFF2-40B4-BE49-F238E27FC236}">
                <a16:creationId xmlns:a16="http://schemas.microsoft.com/office/drawing/2014/main" id="{B52B7FE8-B06B-4DA8-82C7-CAAF671D86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45486" y="6341808"/>
            <a:ext cx="476864" cy="408038"/>
          </a:xfrm>
          <a:prstGeom prst="rect">
            <a:avLst/>
          </a:prstGeom>
        </p:spPr>
      </p:pic>
      <p:pic>
        <p:nvPicPr>
          <p:cNvPr id="21" name="Graphic 20" descr="Arrow: Slight curve with solid fill">
            <a:hlinkClick r:id="rId6" action="ppaction://hlinksldjump"/>
            <a:extLst>
              <a:ext uri="{FF2B5EF4-FFF2-40B4-BE49-F238E27FC236}">
                <a16:creationId xmlns:a16="http://schemas.microsoft.com/office/drawing/2014/main" id="{99E5688E-58E9-4CFC-A6D1-2474587DD3E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290003" y="6341808"/>
            <a:ext cx="476864" cy="408038"/>
          </a:xfrm>
          <a:prstGeom prst="rect">
            <a:avLst/>
          </a:prstGeom>
        </p:spPr>
      </p:pic>
      <p:pic>
        <p:nvPicPr>
          <p:cNvPr id="22" name="Graphic 21" descr="Home with solid fill">
            <a:hlinkClick r:id="rId9" action="ppaction://hlinksldjump"/>
            <a:extLst>
              <a:ext uri="{FF2B5EF4-FFF2-40B4-BE49-F238E27FC236}">
                <a16:creationId xmlns:a16="http://schemas.microsoft.com/office/drawing/2014/main" id="{140044E9-18D8-437F-9005-CC8E4E79E9B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00968" y="6341808"/>
            <a:ext cx="476865" cy="408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4251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1F4A024-E9AC-4826-9C95-2C326E773DA5}"/>
              </a:ext>
            </a:extLst>
          </p:cNvPr>
          <p:cNvSpPr txBox="1"/>
          <p:nvPr/>
        </p:nvSpPr>
        <p:spPr>
          <a:xfrm>
            <a:off x="2500026" y="360000"/>
            <a:ext cx="719194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000" b="1" dirty="0"/>
              <a:t>Sales Distribution by Gender</a:t>
            </a:r>
            <a:r>
              <a:rPr lang="en-IN" sz="4000" dirty="0"/>
              <a:t> </a:t>
            </a:r>
            <a:endParaRPr lang="en-IN" sz="4000" b="1" i="1" u="sng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8302AF-39D2-46DA-86E2-0EA9721FDC40}"/>
              </a:ext>
            </a:extLst>
          </p:cNvPr>
          <p:cNvSpPr txBox="1"/>
          <p:nvPr/>
        </p:nvSpPr>
        <p:spPr>
          <a:xfrm>
            <a:off x="1820283" y="4483510"/>
            <a:ext cx="8551433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Total Revenue Snapshot:</a:t>
            </a:r>
          </a:p>
          <a:p>
            <a:endParaRPr lang="en-US" sz="1400" dirty="0"/>
          </a:p>
          <a:p>
            <a:r>
              <a:rPr lang="en-US" sz="1400" dirty="0"/>
              <a:t>Female Customers: Contributed 64% (₹13.5M), representing the majority of the market share.</a:t>
            </a:r>
          </a:p>
          <a:p>
            <a:endParaRPr lang="en-US" sz="1400" dirty="0"/>
          </a:p>
          <a:p>
            <a:r>
              <a:rPr lang="en-US" sz="1400" dirty="0"/>
              <a:t>Male Customers: Contributed 36% (₹7.6M) of the total sales volume.</a:t>
            </a:r>
          </a:p>
          <a:p>
            <a:endParaRPr lang="en-US" sz="1400" dirty="0"/>
          </a:p>
          <a:p>
            <a:r>
              <a:rPr lang="en-US" sz="1400" dirty="0"/>
              <a:t>Key Takeaway: The female demographic remains our highest-value segment.</a:t>
            </a:r>
            <a:endParaRPr lang="en-IN" sz="1400" dirty="0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7970CDD0-3458-4064-B7E3-30660CCBA05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26557949"/>
              </p:ext>
            </p:extLst>
          </p:nvPr>
        </p:nvGraphicFramePr>
        <p:xfrm>
          <a:off x="3008671" y="1739746"/>
          <a:ext cx="6174658" cy="22783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8" name="Graphic 7" descr="Arrow: Straight with solid fill">
            <a:hlinkClick r:id="rId3" action="ppaction://hlinksldjump"/>
            <a:extLst>
              <a:ext uri="{FF2B5EF4-FFF2-40B4-BE49-F238E27FC236}">
                <a16:creationId xmlns:a16="http://schemas.microsoft.com/office/drawing/2014/main" id="{DE6A1138-326C-45E7-A3B9-3B1C63C3BB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45486" y="6341808"/>
            <a:ext cx="476864" cy="408038"/>
          </a:xfrm>
          <a:prstGeom prst="rect">
            <a:avLst/>
          </a:prstGeom>
        </p:spPr>
      </p:pic>
      <p:pic>
        <p:nvPicPr>
          <p:cNvPr id="9" name="Graphic 8" descr="Arrow: Slight curve with solid fill">
            <a:hlinkClick r:id="rId6" action="ppaction://hlinksldjump"/>
            <a:extLst>
              <a:ext uri="{FF2B5EF4-FFF2-40B4-BE49-F238E27FC236}">
                <a16:creationId xmlns:a16="http://schemas.microsoft.com/office/drawing/2014/main" id="{B16836F5-01F7-4A0A-B167-5E4784A398B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290003" y="6341808"/>
            <a:ext cx="476864" cy="408038"/>
          </a:xfrm>
          <a:prstGeom prst="rect">
            <a:avLst/>
          </a:prstGeom>
        </p:spPr>
      </p:pic>
      <p:pic>
        <p:nvPicPr>
          <p:cNvPr id="10" name="Graphic 9" descr="Home with solid fill">
            <a:hlinkClick r:id="rId9" action="ppaction://hlinksldjump"/>
            <a:extLst>
              <a:ext uri="{FF2B5EF4-FFF2-40B4-BE49-F238E27FC236}">
                <a16:creationId xmlns:a16="http://schemas.microsoft.com/office/drawing/2014/main" id="{01AB9744-D643-4231-B7BE-4AC147BD4BA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00968" y="6341808"/>
            <a:ext cx="476865" cy="408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064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1F4A024-E9AC-4826-9C95-2C326E773DA5}"/>
              </a:ext>
            </a:extLst>
          </p:cNvPr>
          <p:cNvSpPr txBox="1"/>
          <p:nvPr/>
        </p:nvSpPr>
        <p:spPr>
          <a:xfrm>
            <a:off x="2751717" y="360000"/>
            <a:ext cx="66885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000" b="1" i="1" u="sng" dirty="0"/>
              <a:t>Order </a:t>
            </a:r>
            <a:r>
              <a:rPr lang="en-IN" sz="4000" b="1" i="1" u="sng" dirty="0" err="1"/>
              <a:t>Fulfillment</a:t>
            </a:r>
            <a:r>
              <a:rPr lang="en-IN" sz="4000" b="1" i="1" u="sng" dirty="0"/>
              <a:t> Overview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8302AF-39D2-46DA-86E2-0EA9721FDC40}"/>
              </a:ext>
            </a:extLst>
          </p:cNvPr>
          <p:cNvSpPr txBox="1"/>
          <p:nvPr/>
        </p:nvSpPr>
        <p:spPr>
          <a:xfrm>
            <a:off x="683341" y="4454013"/>
            <a:ext cx="1082531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Total processed volume of 31,047 orders shows robust operational capacity with minimal refund friction (1.7%).</a:t>
            </a:r>
          </a:p>
          <a:p>
            <a:endParaRPr lang="en-US" sz="1400" dirty="0"/>
          </a:p>
          <a:p>
            <a:r>
              <a:rPr lang="en-US" sz="1400" dirty="0"/>
              <a:t>Our delivery success rate remains exceptionally high at 92%, indicating strong logistics and customer satisfaction.</a:t>
            </a:r>
          </a:p>
          <a:p>
            <a:endParaRPr lang="en-US" sz="1400" dirty="0"/>
          </a:p>
          <a:p>
            <a:r>
              <a:rPr lang="en-US" sz="1400" dirty="0"/>
              <a:t>While returns and cancellations remain below 4%, we should investigate the 1,045 returns to identify potential product quality issues.</a:t>
            </a:r>
            <a:endParaRPr lang="en-IN" sz="1400" dirty="0"/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1A196104-2229-4739-B0E3-C4C505B2B4A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74428454"/>
              </p:ext>
            </p:extLst>
          </p:nvPr>
        </p:nvGraphicFramePr>
        <p:xfrm>
          <a:off x="2359742" y="1579726"/>
          <a:ext cx="7472516" cy="25984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8" name="Graphic 7" descr="Arrow: Straight with solid fill">
            <a:hlinkClick r:id="rId3" action="ppaction://hlinksldjump"/>
            <a:extLst>
              <a:ext uri="{FF2B5EF4-FFF2-40B4-BE49-F238E27FC236}">
                <a16:creationId xmlns:a16="http://schemas.microsoft.com/office/drawing/2014/main" id="{DBB9549A-AC77-4F3E-B513-D4178E2DCD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45486" y="6341808"/>
            <a:ext cx="476864" cy="408038"/>
          </a:xfrm>
          <a:prstGeom prst="rect">
            <a:avLst/>
          </a:prstGeom>
        </p:spPr>
      </p:pic>
      <p:pic>
        <p:nvPicPr>
          <p:cNvPr id="9" name="Graphic 8" descr="Arrow: Slight curve with solid fill">
            <a:hlinkClick r:id="rId6" action="ppaction://hlinksldjump"/>
            <a:extLst>
              <a:ext uri="{FF2B5EF4-FFF2-40B4-BE49-F238E27FC236}">
                <a16:creationId xmlns:a16="http://schemas.microsoft.com/office/drawing/2014/main" id="{CB9956A8-8AD6-4715-B0E7-33F13BBED6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290003" y="6341808"/>
            <a:ext cx="476864" cy="408038"/>
          </a:xfrm>
          <a:prstGeom prst="rect">
            <a:avLst/>
          </a:prstGeom>
        </p:spPr>
      </p:pic>
      <p:pic>
        <p:nvPicPr>
          <p:cNvPr id="10" name="Graphic 9" descr="Home with solid fill">
            <a:hlinkClick r:id="rId9" action="ppaction://hlinksldjump"/>
            <a:extLst>
              <a:ext uri="{FF2B5EF4-FFF2-40B4-BE49-F238E27FC236}">
                <a16:creationId xmlns:a16="http://schemas.microsoft.com/office/drawing/2014/main" id="{5E7C689D-65AC-4F14-93D6-6BD0F422CFA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00968" y="6341808"/>
            <a:ext cx="476865" cy="408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54495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1F4A024-E9AC-4826-9C95-2C326E773DA5}"/>
              </a:ext>
            </a:extLst>
          </p:cNvPr>
          <p:cNvSpPr txBox="1"/>
          <p:nvPr/>
        </p:nvSpPr>
        <p:spPr>
          <a:xfrm>
            <a:off x="1912375" y="360000"/>
            <a:ext cx="836725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000" b="1" i="1" u="sng" dirty="0"/>
              <a:t>Regional Sales Powerhouse Hubs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8302AF-39D2-46DA-86E2-0EA9721FDC40}"/>
              </a:ext>
            </a:extLst>
          </p:cNvPr>
          <p:cNvSpPr txBox="1"/>
          <p:nvPr/>
        </p:nvSpPr>
        <p:spPr>
          <a:xfrm>
            <a:off x="5919019" y="1691271"/>
            <a:ext cx="547165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Strategic Takeaways</a:t>
            </a:r>
          </a:p>
          <a:p>
            <a:endParaRPr lang="en-US" sz="1400" dirty="0"/>
          </a:p>
          <a:p>
            <a:r>
              <a:rPr lang="en-US" sz="1400" dirty="0"/>
              <a:t>Growth Focus: "The top 5 states contribute over ₹11M in sales, showing a heavy concentration in Western and Southern India."</a:t>
            </a:r>
          </a:p>
          <a:p>
            <a:endParaRPr lang="en-US" sz="1400" dirty="0"/>
          </a:p>
          <a:p>
            <a:r>
              <a:rPr lang="en-US" sz="1400" dirty="0"/>
              <a:t>Market Opportunity: "Maharashtra remains our flagship market with ₹2.99M in revenue, outperforming the #10 state (Haryana) by nearly 3.7x."</a:t>
            </a:r>
          </a:p>
          <a:p>
            <a:endParaRPr lang="en-US" sz="1400" dirty="0"/>
          </a:p>
          <a:p>
            <a:r>
              <a:rPr lang="en-US" sz="1400" dirty="0"/>
              <a:t>Logistics Insight: "High sales volume in Karnataka and Telangana suggests a strong Southern India customer base, justifying localized marketing efforts.</a:t>
            </a:r>
            <a:endParaRPr lang="en-IN" sz="1400" dirty="0"/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920A79AF-9188-4417-80EA-A6688A028A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4926498"/>
              </p:ext>
            </p:extLst>
          </p:nvPr>
        </p:nvGraphicFramePr>
        <p:xfrm>
          <a:off x="1052051" y="1272390"/>
          <a:ext cx="4021394" cy="4758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0697">
                  <a:extLst>
                    <a:ext uri="{9D8B030D-6E8A-4147-A177-3AD203B41FA5}">
                      <a16:colId xmlns:a16="http://schemas.microsoft.com/office/drawing/2014/main" val="1895047443"/>
                    </a:ext>
                  </a:extLst>
                </a:gridCol>
                <a:gridCol w="2010697">
                  <a:extLst>
                    <a:ext uri="{9D8B030D-6E8A-4147-A177-3AD203B41FA5}">
                      <a16:colId xmlns:a16="http://schemas.microsoft.com/office/drawing/2014/main" val="615934649"/>
                    </a:ext>
                  </a:extLst>
                </a:gridCol>
              </a:tblGrid>
              <a:tr h="476241">
                <a:tc>
                  <a:txBody>
                    <a:bodyPr/>
                    <a:lstStyle/>
                    <a:p>
                      <a:pPr rtl="0"/>
                      <a:r>
                        <a:rPr lang="en-IN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State</a:t>
                      </a:r>
                      <a:endParaRPr lang="en-IN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Sales (INR Million)</a:t>
                      </a:r>
                      <a:endParaRPr lang="en-IN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/>
                </a:tc>
                <a:extLst>
                  <a:ext uri="{0D108BD9-81ED-4DB2-BD59-A6C34878D82A}">
                    <a16:rowId xmlns:a16="http://schemas.microsoft.com/office/drawing/2014/main" val="3599350458"/>
                  </a:ext>
                </a:extLst>
              </a:tr>
              <a:tr h="476241">
                <a:tc>
                  <a:txBody>
                    <a:bodyPr/>
                    <a:lstStyle/>
                    <a:p>
                      <a:pPr rtl="0"/>
                      <a:r>
                        <a:rPr lang="en-IN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Maharashtra</a:t>
                      </a:r>
                      <a:endParaRPr lang="en-IN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₹2.99 M</a:t>
                      </a:r>
                    </a:p>
                  </a:txBody>
                  <a:tcPr marT="60960" marB="60960" anchor="ctr"/>
                </a:tc>
                <a:extLst>
                  <a:ext uri="{0D108BD9-81ED-4DB2-BD59-A6C34878D82A}">
                    <a16:rowId xmlns:a16="http://schemas.microsoft.com/office/drawing/2014/main" val="1063239927"/>
                  </a:ext>
                </a:extLst>
              </a:tr>
              <a:tr h="339881">
                <a:tc>
                  <a:txBody>
                    <a:bodyPr/>
                    <a:lstStyle/>
                    <a:p>
                      <a:pPr rtl="0"/>
                      <a:r>
                        <a:rPr lang="en-IN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Karnataka</a:t>
                      </a:r>
                      <a:endParaRPr lang="en-IN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₹2.65 M</a:t>
                      </a:r>
                    </a:p>
                  </a:txBody>
                  <a:tcPr marT="60960" marB="60960" anchor="ctr"/>
                </a:tc>
                <a:extLst>
                  <a:ext uri="{0D108BD9-81ED-4DB2-BD59-A6C34878D82A}">
                    <a16:rowId xmlns:a16="http://schemas.microsoft.com/office/drawing/2014/main" val="234096113"/>
                  </a:ext>
                </a:extLst>
              </a:tr>
              <a:tr h="476241">
                <a:tc>
                  <a:txBody>
                    <a:bodyPr/>
                    <a:lstStyle/>
                    <a:p>
                      <a:pPr rtl="0"/>
                      <a:r>
                        <a:rPr lang="en-IN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Uttar Pradesh</a:t>
                      </a:r>
                      <a:endParaRPr lang="en-IN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₹2.10 M</a:t>
                      </a:r>
                    </a:p>
                  </a:txBody>
                  <a:tcPr marT="60960" marB="60960" anchor="ctr"/>
                </a:tc>
                <a:extLst>
                  <a:ext uri="{0D108BD9-81ED-4DB2-BD59-A6C34878D82A}">
                    <a16:rowId xmlns:a16="http://schemas.microsoft.com/office/drawing/2014/main" val="3252983852"/>
                  </a:ext>
                </a:extLst>
              </a:tr>
              <a:tr h="339881">
                <a:tc>
                  <a:txBody>
                    <a:bodyPr/>
                    <a:lstStyle/>
                    <a:p>
                      <a:pPr rtl="0"/>
                      <a:r>
                        <a:rPr lang="en-IN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Telangana</a:t>
                      </a:r>
                      <a:endParaRPr lang="en-IN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₹1.71 M</a:t>
                      </a:r>
                    </a:p>
                  </a:txBody>
                  <a:tcPr marT="60960" marB="60960" anchor="ctr"/>
                </a:tc>
                <a:extLst>
                  <a:ext uri="{0D108BD9-81ED-4DB2-BD59-A6C34878D82A}">
                    <a16:rowId xmlns:a16="http://schemas.microsoft.com/office/drawing/2014/main" val="2453574762"/>
                  </a:ext>
                </a:extLst>
              </a:tr>
              <a:tr h="339881">
                <a:tc>
                  <a:txBody>
                    <a:bodyPr/>
                    <a:lstStyle/>
                    <a:p>
                      <a:pPr rtl="0"/>
                      <a:r>
                        <a:rPr lang="en-IN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Tamil Nadu</a:t>
                      </a:r>
                      <a:endParaRPr lang="en-IN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₹1.68 M</a:t>
                      </a:r>
                    </a:p>
                  </a:txBody>
                  <a:tcPr marT="60960" marB="60960" anchor="ctr"/>
                </a:tc>
                <a:extLst>
                  <a:ext uri="{0D108BD9-81ED-4DB2-BD59-A6C34878D82A}">
                    <a16:rowId xmlns:a16="http://schemas.microsoft.com/office/drawing/2014/main" val="3817687895"/>
                  </a:ext>
                </a:extLst>
              </a:tr>
              <a:tr h="339881">
                <a:tc>
                  <a:txBody>
                    <a:bodyPr/>
                    <a:lstStyle/>
                    <a:p>
                      <a:pPr rtl="0"/>
                      <a:r>
                        <a:rPr lang="en-IN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Delhi</a:t>
                      </a:r>
                      <a:endParaRPr lang="en-IN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₹1.27 M</a:t>
                      </a:r>
                    </a:p>
                  </a:txBody>
                  <a:tcPr marT="60960" marB="60960" anchor="ctr"/>
                </a:tc>
                <a:extLst>
                  <a:ext uri="{0D108BD9-81ED-4DB2-BD59-A6C34878D82A}">
                    <a16:rowId xmlns:a16="http://schemas.microsoft.com/office/drawing/2014/main" val="1922876849"/>
                  </a:ext>
                </a:extLst>
              </a:tr>
              <a:tr h="339881">
                <a:tc>
                  <a:txBody>
                    <a:bodyPr/>
                    <a:lstStyle/>
                    <a:p>
                      <a:pPr rtl="0"/>
                      <a:r>
                        <a:rPr lang="en-IN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Kerala</a:t>
                      </a:r>
                      <a:endParaRPr lang="en-IN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₹1.01 M</a:t>
                      </a:r>
                    </a:p>
                  </a:txBody>
                  <a:tcPr marT="60960" marB="60960" anchor="ctr"/>
                </a:tc>
                <a:extLst>
                  <a:ext uri="{0D108BD9-81ED-4DB2-BD59-A6C34878D82A}">
                    <a16:rowId xmlns:a16="http://schemas.microsoft.com/office/drawing/2014/main" val="3860363828"/>
                  </a:ext>
                </a:extLst>
              </a:tr>
              <a:tr h="476241">
                <a:tc>
                  <a:txBody>
                    <a:bodyPr/>
                    <a:lstStyle/>
                    <a:p>
                      <a:pPr rtl="0"/>
                      <a:r>
                        <a:rPr lang="en-IN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West Bengal</a:t>
                      </a:r>
                      <a:endParaRPr lang="en-IN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₹0.92 M</a:t>
                      </a:r>
                    </a:p>
                  </a:txBody>
                  <a:tcPr marT="60960" marB="60960" anchor="ctr"/>
                </a:tc>
                <a:extLst>
                  <a:ext uri="{0D108BD9-81ED-4DB2-BD59-A6C34878D82A}">
                    <a16:rowId xmlns:a16="http://schemas.microsoft.com/office/drawing/2014/main" val="2239434213"/>
                  </a:ext>
                </a:extLst>
              </a:tr>
              <a:tr h="476241">
                <a:tc>
                  <a:txBody>
                    <a:bodyPr/>
                    <a:lstStyle/>
                    <a:p>
                      <a:pPr rtl="0"/>
                      <a:r>
                        <a:rPr lang="en-IN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Andhra Pradesh</a:t>
                      </a:r>
                      <a:endParaRPr lang="en-IN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₹0.92 M</a:t>
                      </a:r>
                    </a:p>
                  </a:txBody>
                  <a:tcPr marT="60960" marB="60960" anchor="ctr"/>
                </a:tc>
                <a:extLst>
                  <a:ext uri="{0D108BD9-81ED-4DB2-BD59-A6C34878D82A}">
                    <a16:rowId xmlns:a16="http://schemas.microsoft.com/office/drawing/2014/main" val="4180882133"/>
                  </a:ext>
                </a:extLst>
              </a:tr>
              <a:tr h="339881">
                <a:tc>
                  <a:txBody>
                    <a:bodyPr/>
                    <a:lstStyle/>
                    <a:p>
                      <a:pPr rtl="0"/>
                      <a:r>
                        <a:rPr lang="en-IN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Haryana</a:t>
                      </a:r>
                      <a:endParaRPr lang="en-IN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₹0.81 M</a:t>
                      </a:r>
                    </a:p>
                  </a:txBody>
                  <a:tcPr marT="60960" marB="60960" anchor="ctr"/>
                </a:tc>
                <a:extLst>
                  <a:ext uri="{0D108BD9-81ED-4DB2-BD59-A6C34878D82A}">
                    <a16:rowId xmlns:a16="http://schemas.microsoft.com/office/drawing/2014/main" val="3247879655"/>
                  </a:ext>
                </a:extLst>
              </a:tr>
            </a:tbl>
          </a:graphicData>
        </a:graphic>
      </p:graphicFrame>
      <p:pic>
        <p:nvPicPr>
          <p:cNvPr id="9" name="Graphic 8" descr="Arrow: Straight with solid fill">
            <a:hlinkClick r:id="rId2" action="ppaction://hlinksldjump"/>
            <a:extLst>
              <a:ext uri="{FF2B5EF4-FFF2-40B4-BE49-F238E27FC236}">
                <a16:creationId xmlns:a16="http://schemas.microsoft.com/office/drawing/2014/main" id="{A7F2FD04-0857-4A2E-A05B-EB096B7020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45486" y="6341808"/>
            <a:ext cx="476864" cy="408038"/>
          </a:xfrm>
          <a:prstGeom prst="rect">
            <a:avLst/>
          </a:prstGeom>
        </p:spPr>
      </p:pic>
      <p:pic>
        <p:nvPicPr>
          <p:cNvPr id="10" name="Graphic 9" descr="Arrow: Slight curve with solid fill">
            <a:hlinkClick r:id="rId5" action="ppaction://hlinksldjump"/>
            <a:extLst>
              <a:ext uri="{FF2B5EF4-FFF2-40B4-BE49-F238E27FC236}">
                <a16:creationId xmlns:a16="http://schemas.microsoft.com/office/drawing/2014/main" id="{7D875E6A-C4F0-4AB1-840F-F36817BEB96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290003" y="6341808"/>
            <a:ext cx="476864" cy="408038"/>
          </a:xfrm>
          <a:prstGeom prst="rect">
            <a:avLst/>
          </a:prstGeom>
        </p:spPr>
      </p:pic>
      <p:pic>
        <p:nvPicPr>
          <p:cNvPr id="11" name="Graphic 10" descr="Home with solid fill">
            <a:hlinkClick r:id="rId8" action="ppaction://hlinksldjump"/>
            <a:extLst>
              <a:ext uri="{FF2B5EF4-FFF2-40B4-BE49-F238E27FC236}">
                <a16:creationId xmlns:a16="http://schemas.microsoft.com/office/drawing/2014/main" id="{6B9B2657-EC5A-41E8-8B8C-0E7DED6FEAE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00968" y="6341808"/>
            <a:ext cx="476865" cy="408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0074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1F4A024-E9AC-4826-9C95-2C326E773DA5}"/>
              </a:ext>
            </a:extLst>
          </p:cNvPr>
          <p:cNvSpPr txBox="1"/>
          <p:nvPr/>
        </p:nvSpPr>
        <p:spPr>
          <a:xfrm>
            <a:off x="943897" y="360000"/>
            <a:ext cx="103042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i="1" u="sng" dirty="0"/>
              <a:t>Customer Demographics: Age &amp; Gender Correlation</a:t>
            </a:r>
            <a:endParaRPr lang="en-IN" sz="4000" b="1" i="1" u="sng" dirty="0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4F199307-FF6F-4EEA-BD8A-04932CEB265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34712593"/>
              </p:ext>
            </p:extLst>
          </p:nvPr>
        </p:nvGraphicFramePr>
        <p:xfrm>
          <a:off x="943897" y="2025445"/>
          <a:ext cx="4473677" cy="42573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1EC0F7C-0D44-4186-B432-6A7A0FF33F36}"/>
              </a:ext>
            </a:extLst>
          </p:cNvPr>
          <p:cNvSpPr txBox="1"/>
          <p:nvPr/>
        </p:nvSpPr>
        <p:spPr>
          <a:xfrm>
            <a:off x="6059488" y="2554664"/>
            <a:ext cx="5073568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Findings</a:t>
            </a:r>
          </a:p>
          <a:p>
            <a:endParaRPr lang="en-US" sz="1400" dirty="0"/>
          </a:p>
          <a:p>
            <a:r>
              <a:rPr lang="en-US" sz="1400" dirty="0"/>
              <a:t>Primary Persona: "The Adult Female segment is our most valuable demographic, contributing over half (52.78%) of all orders."</a:t>
            </a:r>
          </a:p>
          <a:p>
            <a:endParaRPr lang="en-US" sz="1400" dirty="0"/>
          </a:p>
          <a:p>
            <a:r>
              <a:rPr lang="en-US" sz="1400" dirty="0"/>
              <a:t>Gender Consistency: "Women consistently outpace men by a ratio of 2:1 or higher across all three life stages (Teen, Adult, and Senior)."</a:t>
            </a:r>
          </a:p>
          <a:p>
            <a:endParaRPr lang="en-US" sz="1400" dirty="0"/>
          </a:p>
          <a:p>
            <a:r>
              <a:rPr lang="en-US" sz="1400" dirty="0"/>
              <a:t>Market Concentration: "With 76% of all orders coming from the 'Adult' group, marketing efforts should be heavily weighted towards customers below 20.</a:t>
            </a:r>
            <a:endParaRPr lang="en-IN" sz="1400" dirty="0"/>
          </a:p>
        </p:txBody>
      </p:sp>
      <p:pic>
        <p:nvPicPr>
          <p:cNvPr id="9" name="Graphic 8" descr="Arrow: Straight with solid fill">
            <a:hlinkClick r:id="rId3" action="ppaction://hlinksldjump"/>
            <a:extLst>
              <a:ext uri="{FF2B5EF4-FFF2-40B4-BE49-F238E27FC236}">
                <a16:creationId xmlns:a16="http://schemas.microsoft.com/office/drawing/2014/main" id="{056E4CA5-2FCF-4ED0-8680-2AC0644E57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45486" y="6341808"/>
            <a:ext cx="476864" cy="408038"/>
          </a:xfrm>
          <a:prstGeom prst="rect">
            <a:avLst/>
          </a:prstGeom>
        </p:spPr>
      </p:pic>
      <p:pic>
        <p:nvPicPr>
          <p:cNvPr id="10" name="Graphic 9" descr="Arrow: Slight curve with solid fill">
            <a:hlinkClick r:id="rId6" action="ppaction://hlinksldjump"/>
            <a:extLst>
              <a:ext uri="{FF2B5EF4-FFF2-40B4-BE49-F238E27FC236}">
                <a16:creationId xmlns:a16="http://schemas.microsoft.com/office/drawing/2014/main" id="{D29B5E98-347C-4359-9B37-E9A1330402F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290003" y="6341808"/>
            <a:ext cx="476864" cy="408038"/>
          </a:xfrm>
          <a:prstGeom prst="rect">
            <a:avLst/>
          </a:prstGeom>
        </p:spPr>
      </p:pic>
      <p:pic>
        <p:nvPicPr>
          <p:cNvPr id="11" name="Graphic 10" descr="Home with solid fill">
            <a:hlinkClick r:id="rId9" action="ppaction://hlinksldjump"/>
            <a:extLst>
              <a:ext uri="{FF2B5EF4-FFF2-40B4-BE49-F238E27FC236}">
                <a16:creationId xmlns:a16="http://schemas.microsoft.com/office/drawing/2014/main" id="{B610EF71-9A8D-4E53-9C25-F63598C5C55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00968" y="6341808"/>
            <a:ext cx="476865" cy="408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9314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1F4A024-E9AC-4826-9C95-2C326E773DA5}"/>
              </a:ext>
            </a:extLst>
          </p:cNvPr>
          <p:cNvSpPr txBox="1"/>
          <p:nvPr/>
        </p:nvSpPr>
        <p:spPr>
          <a:xfrm>
            <a:off x="2183877" y="360000"/>
            <a:ext cx="782424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000" b="1" i="1" u="sng" dirty="0"/>
              <a:t>Channel Performance Analysis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8302AF-39D2-46DA-86E2-0EA9721FDC40}"/>
              </a:ext>
            </a:extLst>
          </p:cNvPr>
          <p:cNvSpPr txBox="1"/>
          <p:nvPr/>
        </p:nvSpPr>
        <p:spPr>
          <a:xfrm>
            <a:off x="1663502" y="4071259"/>
            <a:ext cx="886499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Strategic Takeaways</a:t>
            </a:r>
          </a:p>
          <a:p>
            <a:endParaRPr lang="en-US" sz="1400" u="sng" dirty="0"/>
          </a:p>
          <a:p>
            <a:r>
              <a:rPr lang="en-US" sz="1400" dirty="0"/>
              <a:t>The "So What?" for this data points toward where your marketing budget should go:</a:t>
            </a:r>
          </a:p>
          <a:p>
            <a:endParaRPr lang="en-US" sz="1400" dirty="0"/>
          </a:p>
          <a:p>
            <a:r>
              <a:rPr lang="en-US" sz="1400" dirty="0"/>
              <a:t>Market Concentration: The 'Big Three' (Amazon, Myntra, Flipkart) contribute roughly ₹17M, showing that our brand strength is tied to major aggregators.</a:t>
            </a:r>
          </a:p>
          <a:p>
            <a:endParaRPr lang="en-US" sz="1400" dirty="0"/>
          </a:p>
          <a:p>
            <a:r>
              <a:rPr lang="en-US" sz="1400" dirty="0"/>
              <a:t>Amazon as Anchor: Amazon is our flagship channel, generating over 1.5x the revenue of our second-largest partner (Myntra).</a:t>
            </a:r>
          </a:p>
          <a:p>
            <a:endParaRPr lang="en-US" sz="1400" dirty="0"/>
          </a:p>
          <a:p>
            <a:r>
              <a:rPr lang="en-US" sz="1400" dirty="0"/>
              <a:t>Growth Opportunity: While </a:t>
            </a:r>
            <a:r>
              <a:rPr lang="en-US" sz="1400" dirty="0" err="1"/>
              <a:t>Ajio</a:t>
            </a:r>
            <a:r>
              <a:rPr lang="en-US" sz="1400" dirty="0"/>
              <a:t> and </a:t>
            </a:r>
            <a:r>
              <a:rPr lang="en-US" sz="1400" dirty="0" err="1"/>
              <a:t>Nalli</a:t>
            </a:r>
            <a:r>
              <a:rPr lang="en-US" sz="1400" dirty="0"/>
              <a:t> show lower volumes (approx. ₹1M each), they represent niche growth segments outside the mass-market giants.</a:t>
            </a:r>
            <a:endParaRPr lang="en-IN" sz="1400" dirty="0"/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5974D166-FC8B-4EF0-A37C-A7DA44C0EA0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39215236"/>
              </p:ext>
            </p:extLst>
          </p:nvPr>
        </p:nvGraphicFramePr>
        <p:xfrm>
          <a:off x="2480821" y="1476488"/>
          <a:ext cx="7230358" cy="22753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8" name="Graphic 7" descr="Arrow: Straight with solid fill">
            <a:hlinkClick r:id="rId3" action="ppaction://hlinksldjump"/>
            <a:extLst>
              <a:ext uri="{FF2B5EF4-FFF2-40B4-BE49-F238E27FC236}">
                <a16:creationId xmlns:a16="http://schemas.microsoft.com/office/drawing/2014/main" id="{243201CA-C580-430E-8C47-BE0C745E58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45486" y="6341808"/>
            <a:ext cx="476864" cy="408038"/>
          </a:xfrm>
          <a:prstGeom prst="rect">
            <a:avLst/>
          </a:prstGeom>
        </p:spPr>
      </p:pic>
      <p:pic>
        <p:nvPicPr>
          <p:cNvPr id="9" name="Graphic 8" descr="Arrow: Slight curve with solid fill">
            <a:hlinkClick r:id="rId6" action="ppaction://hlinksldjump"/>
            <a:extLst>
              <a:ext uri="{FF2B5EF4-FFF2-40B4-BE49-F238E27FC236}">
                <a16:creationId xmlns:a16="http://schemas.microsoft.com/office/drawing/2014/main" id="{C303F2E4-0247-40FA-8F29-69575D3D098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290003" y="6341808"/>
            <a:ext cx="476864" cy="408038"/>
          </a:xfrm>
          <a:prstGeom prst="rect">
            <a:avLst/>
          </a:prstGeom>
        </p:spPr>
      </p:pic>
      <p:pic>
        <p:nvPicPr>
          <p:cNvPr id="10" name="Graphic 9" descr="Home with solid fill">
            <a:hlinkClick r:id="rId9" action="ppaction://hlinksldjump"/>
            <a:extLst>
              <a:ext uri="{FF2B5EF4-FFF2-40B4-BE49-F238E27FC236}">
                <a16:creationId xmlns:a16="http://schemas.microsoft.com/office/drawing/2014/main" id="{2D94D077-2E0A-42BE-A75C-912D4E3FFFC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00968" y="6341808"/>
            <a:ext cx="476865" cy="408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1725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52409F-0BD5-4514-A38A-DE474C0820E0}"/>
              </a:ext>
            </a:extLst>
          </p:cNvPr>
          <p:cNvSpPr txBox="1"/>
          <p:nvPr/>
        </p:nvSpPr>
        <p:spPr>
          <a:xfrm>
            <a:off x="2639961" y="2721114"/>
            <a:ext cx="691207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000" b="1" i="1" u="sng" dirty="0"/>
              <a:t>Thank You!</a:t>
            </a:r>
          </a:p>
        </p:txBody>
      </p:sp>
      <p:pic>
        <p:nvPicPr>
          <p:cNvPr id="4" name="Graphic 3" descr="Arrow: Straight with solid fill">
            <a:hlinkClick r:id="rId2" action="ppaction://hlinksldjump"/>
            <a:extLst>
              <a:ext uri="{FF2B5EF4-FFF2-40B4-BE49-F238E27FC236}">
                <a16:creationId xmlns:a16="http://schemas.microsoft.com/office/drawing/2014/main" id="{2D275A28-4979-4EFD-B089-0B1790CFBA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45486" y="6341808"/>
            <a:ext cx="476864" cy="408038"/>
          </a:xfrm>
          <a:prstGeom prst="rect">
            <a:avLst/>
          </a:prstGeom>
        </p:spPr>
      </p:pic>
      <p:pic>
        <p:nvPicPr>
          <p:cNvPr id="6" name="Graphic 5" descr="Home with solid fill">
            <a:hlinkClick r:id="rId5" action="ppaction://hlinksldjump"/>
            <a:extLst>
              <a:ext uri="{FF2B5EF4-FFF2-40B4-BE49-F238E27FC236}">
                <a16:creationId xmlns:a16="http://schemas.microsoft.com/office/drawing/2014/main" id="{9B20F9DA-BB13-4F70-87EE-8422F7203F1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00968" y="6341808"/>
            <a:ext cx="476865" cy="408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09540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EC76B5"/>
      </a:hlink>
      <a:folHlink>
        <a:srgbClr val="E8ACCD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A207AED3-9ABC-4A18-9978-A59B65688B1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92</TotalTime>
  <Words>590</Words>
  <Application>Microsoft Office PowerPoint</Application>
  <PresentationFormat>Widescreen</PresentationFormat>
  <Paragraphs>90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Century Gothic</vt:lpstr>
      <vt:lpstr>Google Sans Text</vt:lpstr>
      <vt:lpstr>Wingdings 3</vt:lpstr>
      <vt:lpstr>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bhupinder singh</dc:creator>
  <cp:lastModifiedBy>bhupinder singh</cp:lastModifiedBy>
  <cp:revision>12</cp:revision>
  <dcterms:created xsi:type="dcterms:W3CDTF">2026-02-28T13:09:40Z</dcterms:created>
  <dcterms:modified xsi:type="dcterms:W3CDTF">2026-02-28T14:48:49Z</dcterms:modified>
</cp:coreProperties>
</file>